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1.png" ContentType="image/png"/>
  <Override PartName="/ppt/media/image2.png" ContentType="image/png"/>
  <Override PartName="/ppt/media/image3.png" ContentType="image/png"/>
  <Override PartName="/ppt/media/image14.png" ContentType="image/png"/>
  <Override PartName="/ppt/media/image5.png" ContentType="image/png"/>
  <Override PartName="/ppt/media/image11.jpeg" ContentType="image/jpeg"/>
  <Override PartName="/ppt/media/image8.jpeg" ContentType="image/jpeg"/>
  <Override PartName="/ppt/media/image10.jpeg" ContentType="image/jpeg"/>
  <Override PartName="/ppt/media/image15.png" ContentType="image/png"/>
  <Override PartName="/ppt/media/image6.png" ContentType="image/png"/>
  <Override PartName="/ppt/media/image16.png" ContentType="image/png"/>
  <Override PartName="/ppt/media/image7.png" ContentType="image/png"/>
  <Override PartName="/ppt/media/image9.jpeg" ContentType="image/jpeg"/>
  <Override PartName="/ppt/media/image12.jpeg" ContentType="image/jpeg"/>
  <Override PartName="/ppt/slides/slide1.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B1ACC424-882A-4887-B95E-570AC1381F55}"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5320" cy="3085200"/>
          </a:xfrm>
          <a:prstGeom prst="rect">
            <a:avLst/>
          </a:prstGeom>
          <a:ln w="0">
            <a:noFill/>
          </a:ln>
        </p:spPr>
      </p:sp>
      <p:sp>
        <p:nvSpPr>
          <p:cNvPr id="18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6" name="PlaceHolder 3"/>
          <p:cNvSpPr>
            <a:spLocks noGrp="1"/>
          </p:cNvSpPr>
          <p:nvPr>
            <p:ph type="sldNum" idx="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CA52F48-BD70-4DEC-B595-3A972AF0835A}"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5320" cy="3085200"/>
          </a:xfrm>
          <a:prstGeom prst="rect">
            <a:avLst/>
          </a:prstGeom>
          <a:ln w="0">
            <a:noFill/>
          </a:ln>
        </p:spPr>
      </p:sp>
      <p:sp>
        <p:nvSpPr>
          <p:cNvPr id="18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9" name="PlaceHolder 3"/>
          <p:cNvSpPr>
            <a:spLocks noGrp="1"/>
          </p:cNvSpPr>
          <p:nvPr>
            <p:ph type="sldNum" idx="5"/>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854B77F-F2D3-4E2B-B590-D758FDA5A98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5320" cy="3085200"/>
          </a:xfrm>
          <a:prstGeom prst="rect">
            <a:avLst/>
          </a:prstGeom>
          <a:ln w="0">
            <a:noFill/>
          </a:ln>
        </p:spPr>
      </p:sp>
      <p:sp>
        <p:nvSpPr>
          <p:cNvPr id="191"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2" name="PlaceHolder 3"/>
          <p:cNvSpPr>
            <a:spLocks noGrp="1"/>
          </p:cNvSpPr>
          <p:nvPr>
            <p:ph type="sldNum" idx="6"/>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2196626-D325-430A-B896-5B08BE1C02E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5320" cy="3085200"/>
          </a:xfrm>
          <a:prstGeom prst="rect">
            <a:avLst/>
          </a:prstGeom>
          <a:ln w="0">
            <a:noFill/>
          </a:ln>
        </p:spPr>
      </p:sp>
      <p:sp>
        <p:nvSpPr>
          <p:cNvPr id="19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5" name="PlaceHolder 3"/>
          <p:cNvSpPr>
            <a:spLocks noGrp="1"/>
          </p:cNvSpPr>
          <p:nvPr>
            <p:ph type="sldNum" idx="7"/>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7482AE1D-5B9E-4E0D-8C9C-B1B243596CC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5320" cy="3085200"/>
          </a:xfrm>
          <a:prstGeom prst="rect">
            <a:avLst/>
          </a:prstGeom>
          <a:ln w="0">
            <a:noFill/>
          </a:ln>
        </p:spPr>
      </p:sp>
      <p:sp>
        <p:nvSpPr>
          <p:cNvPr id="197"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98" name="PlaceHolder 3"/>
          <p:cNvSpPr>
            <a:spLocks noGrp="1"/>
          </p:cNvSpPr>
          <p:nvPr>
            <p:ph type="sldNum" idx="8"/>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E5A633E-50E7-4154-B114-69CA033B2F9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5320" cy="3085200"/>
          </a:xfrm>
          <a:prstGeom prst="rect">
            <a:avLst/>
          </a:prstGeom>
          <a:ln w="0">
            <a:noFill/>
          </a:ln>
        </p:spPr>
      </p:sp>
      <p:sp>
        <p:nvSpPr>
          <p:cNvPr id="20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1" name="PlaceHolder 3"/>
          <p:cNvSpPr>
            <a:spLocks noGrp="1"/>
          </p:cNvSpPr>
          <p:nvPr>
            <p:ph type="sldNum" idx="9"/>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1A5B9C6-7A0B-46DE-99C6-74DB435400E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5320" cy="3085200"/>
          </a:xfrm>
          <a:prstGeom prst="rect">
            <a:avLst/>
          </a:prstGeom>
          <a:ln w="0">
            <a:noFill/>
          </a:ln>
        </p:spPr>
      </p:sp>
      <p:sp>
        <p:nvSpPr>
          <p:cNvPr id="20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4" name="PlaceHolder 3"/>
          <p:cNvSpPr>
            <a:spLocks noGrp="1"/>
          </p:cNvSpPr>
          <p:nvPr>
            <p:ph type="sldNum" idx="1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C79D8C6-4DF2-44E5-B93D-E612C26411F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5320" cy="3085200"/>
          </a:xfrm>
          <a:prstGeom prst="rect">
            <a:avLst/>
          </a:prstGeom>
          <a:ln w="0">
            <a:noFill/>
          </a:ln>
        </p:spPr>
      </p:sp>
      <p:sp>
        <p:nvSpPr>
          <p:cNvPr id="20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07" name="PlaceHolder 3"/>
          <p:cNvSpPr>
            <a:spLocks noGrp="1"/>
          </p:cNvSpPr>
          <p:nvPr>
            <p:ph type="sldNum" idx="11"/>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866F110D-B6B6-4739-AB4E-AF3F81ABC6A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5320" cy="3085200"/>
          </a:xfrm>
          <a:prstGeom prst="rect">
            <a:avLst/>
          </a:prstGeom>
          <a:ln w="0">
            <a:noFill/>
          </a:ln>
        </p:spPr>
      </p:sp>
      <p:sp>
        <p:nvSpPr>
          <p:cNvPr id="20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0" name="PlaceHolder 3"/>
          <p:cNvSpPr>
            <a:spLocks noGrp="1"/>
          </p:cNvSpPr>
          <p:nvPr>
            <p:ph type="sldNum" idx="12"/>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F281903E-B1D1-4801-A7C7-97372BAD56E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5320" cy="3085200"/>
          </a:xfrm>
          <a:prstGeom prst="rect">
            <a:avLst/>
          </a:prstGeom>
          <a:ln w="0">
            <a:noFill/>
          </a:ln>
        </p:spPr>
      </p:sp>
      <p:sp>
        <p:nvSpPr>
          <p:cNvPr id="21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3" name="PlaceHolder 3"/>
          <p:cNvSpPr>
            <a:spLocks noGrp="1"/>
          </p:cNvSpPr>
          <p:nvPr>
            <p:ph type="sldNum" idx="13"/>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8541BF2-772C-4D6C-9258-2FD7E98C71B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5320" cy="3085200"/>
          </a:xfrm>
          <a:prstGeom prst="rect">
            <a:avLst/>
          </a:prstGeom>
          <a:ln w="0">
            <a:noFill/>
          </a:ln>
        </p:spPr>
      </p:sp>
      <p:sp>
        <p:nvSpPr>
          <p:cNvPr id="215"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6" name="PlaceHolder 3"/>
          <p:cNvSpPr>
            <a:spLocks noGrp="1"/>
          </p:cNvSpPr>
          <p:nvPr>
            <p:ph type="sldNum" idx="14"/>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4FBFC963-C29F-4ABF-97F5-C209E779FB5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11d35"/>
        </a:solidFill>
      </p:bgPr>
    </p:bg>
    <p:spTree>
      <p:nvGrpSpPr>
        <p:cNvPr id="1" name=""/>
        <p:cNvGrpSpPr/>
        <p:nvPr/>
      </p:nvGrpSpPr>
      <p:grpSpPr>
        <a:xfrm>
          <a:off x="0" y="0"/>
          <a:ext cx="0" cy="0"/>
          <a:chOff x="0" y="0"/>
          <a:chExt cx="0" cy="0"/>
        </a:xfrm>
      </p:grpSpPr>
      <p:sp>
        <p:nvSpPr>
          <p:cNvPr id="8" name="Shape 0"/>
          <p:cNvSpPr/>
          <p:nvPr/>
        </p:nvSpPr>
        <p:spPr>
          <a:xfrm>
            <a:off x="0" y="0"/>
            <a:ext cx="9142920" cy="53640"/>
          </a:xfrm>
          <a:prstGeom prst="rect">
            <a:avLst/>
          </a:prstGeom>
          <a:solidFill>
            <a:srgbClr val="0d9488"/>
          </a:solidFill>
          <a:ln w="0">
            <a:noFill/>
          </a:ln>
        </p:spPr>
        <p:style>
          <a:lnRef idx="0"/>
          <a:fillRef idx="0"/>
          <a:effectRef idx="0"/>
          <a:fontRef idx="minor"/>
        </p:style>
        <p:txBody>
          <a:bodyPr lIns="90000" rIns="90000" tIns="9720" bIns="9720" anchor="t">
            <a:noAutofit/>
          </a:bodyPr>
          <a:p>
            <a:pPr>
              <a:lnSpc>
                <a:spcPct val="100000"/>
              </a:lnSpc>
            </a:pPr>
            <a:endParaRPr b="0" lang="en-US" sz="1800" spc="-1" strike="noStrike">
              <a:solidFill>
                <a:srgbClr val="ffffff"/>
              </a:solidFill>
              <a:latin typeface="Arial"/>
            </a:endParaRPr>
          </a:p>
        </p:txBody>
      </p:sp>
      <p:pic>
        <p:nvPicPr>
          <p:cNvPr id="9" name="Image 0" descr="preencoded.png"/>
          <p:cNvPicPr/>
          <p:nvPr/>
        </p:nvPicPr>
        <p:blipFill>
          <a:blip r:embed="rId1"/>
          <a:stretch/>
        </p:blipFill>
        <p:spPr>
          <a:xfrm>
            <a:off x="4114800" y="548640"/>
            <a:ext cx="913320" cy="913320"/>
          </a:xfrm>
          <a:prstGeom prst="rect">
            <a:avLst/>
          </a:prstGeom>
          <a:ln w="0">
            <a:noFill/>
          </a:ln>
        </p:spPr>
      </p:pic>
      <p:sp>
        <p:nvSpPr>
          <p:cNvPr id="10" name="Text 1"/>
          <p:cNvSpPr/>
          <p:nvPr/>
        </p:nvSpPr>
        <p:spPr>
          <a:xfrm>
            <a:off x="731520" y="1554480"/>
            <a:ext cx="7679880" cy="12790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10000"/>
              </a:lnSpc>
              <a:tabLst>
                <a:tab algn="l" pos="0"/>
              </a:tabLst>
            </a:pPr>
            <a:r>
              <a:rPr b="1" lang="en-US" sz="3200" spc="-1" strike="noStrike">
                <a:solidFill>
                  <a:srgbClr val="ffffff"/>
                </a:solidFill>
                <a:latin typeface="Georgia"/>
                <a:ea typeface="Georgia"/>
              </a:rPr>
              <a:t>Verbal Fluency &amp;</a:t>
            </a:r>
            <a:endParaRPr b="0" lang="en-US" sz="3200" spc="-1" strike="noStrike">
              <a:solidFill>
                <a:srgbClr val="ffffff"/>
              </a:solidFill>
              <a:latin typeface="Arial"/>
            </a:endParaRPr>
          </a:p>
          <a:p>
            <a:pPr algn="ctr" defTabSz="914400">
              <a:lnSpc>
                <a:spcPct val="110000"/>
              </a:lnSpc>
              <a:tabLst>
                <a:tab algn="l" pos="0"/>
              </a:tabLst>
            </a:pPr>
            <a:r>
              <a:rPr b="1" lang="en-US" sz="3200" spc="-1" strike="noStrike">
                <a:solidFill>
                  <a:srgbClr val="ffffff"/>
                </a:solidFill>
                <a:latin typeface="Georgia"/>
                <a:ea typeface="Georgia"/>
              </a:rPr>
              <a:t>Spatial Arrangement Methods</a:t>
            </a:r>
            <a:endParaRPr b="0" lang="en-US" sz="3200" spc="-1" strike="noStrike">
              <a:solidFill>
                <a:srgbClr val="ffffff"/>
              </a:solidFill>
              <a:latin typeface="Arial"/>
            </a:endParaRPr>
          </a:p>
        </p:txBody>
      </p:sp>
      <p:sp>
        <p:nvSpPr>
          <p:cNvPr id="11" name="Text 2"/>
          <p:cNvSpPr/>
          <p:nvPr/>
        </p:nvSpPr>
        <p:spPr>
          <a:xfrm>
            <a:off x="1371600" y="2880360"/>
            <a:ext cx="6399720" cy="456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600" spc="-1" strike="noStrike">
                <a:solidFill>
                  <a:srgbClr val="5eead4"/>
                </a:solidFill>
                <a:latin typeface="Calibri"/>
                <a:ea typeface="Calibri"/>
              </a:rPr>
              <a:t>Descriptive and Inferential Statistics</a:t>
            </a:r>
            <a:endParaRPr b="0" lang="en-US" sz="1600" spc="-1" strike="noStrike">
              <a:solidFill>
                <a:srgbClr val="ffffff"/>
              </a:solidFill>
              <a:latin typeface="Arial"/>
            </a:endParaRPr>
          </a:p>
        </p:txBody>
      </p:sp>
      <p:sp>
        <p:nvSpPr>
          <p:cNvPr id="12" name="Shape 3"/>
          <p:cNvSpPr/>
          <p:nvPr/>
        </p:nvSpPr>
        <p:spPr>
          <a:xfrm>
            <a:off x="3200400" y="3520440"/>
            <a:ext cx="2743200" cy="360"/>
          </a:xfrm>
          <a:prstGeom prst="line">
            <a:avLst/>
          </a:prstGeom>
          <a:ln w="19050">
            <a:solidFill>
              <a:srgbClr val="0d9488"/>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3" name="Text 4"/>
          <p:cNvSpPr/>
          <p:nvPr/>
        </p:nvSpPr>
        <p:spPr>
          <a:xfrm>
            <a:off x="914400" y="3749040"/>
            <a:ext cx="7314120" cy="364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400" spc="-1" strike="noStrike">
                <a:solidFill>
                  <a:srgbClr val="94a3b8"/>
                </a:solidFill>
                <a:latin typeface="Calibri"/>
                <a:ea typeface="Calibri"/>
              </a:rPr>
              <a:t>Team — The Hawthornes</a:t>
            </a:r>
            <a:endParaRPr b="0" lang="en-US" sz="1400" spc="-1" strike="noStrike">
              <a:solidFill>
                <a:srgbClr val="ffffff"/>
              </a:solidFill>
              <a:latin typeface="Arial"/>
            </a:endParaRPr>
          </a:p>
        </p:txBody>
      </p:sp>
      <p:sp>
        <p:nvSpPr>
          <p:cNvPr id="14" name="Text 5"/>
          <p:cNvSpPr/>
          <p:nvPr/>
        </p:nvSpPr>
        <p:spPr>
          <a:xfrm>
            <a:off x="914400" y="4069080"/>
            <a:ext cx="73141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200" spc="-1" strike="noStrike">
                <a:solidFill>
                  <a:srgbClr val="94a3b8"/>
                </a:solidFill>
                <a:latin typeface="Calibri"/>
                <a:ea typeface="Calibri"/>
              </a:rPr>
              <a:t>Malay Damani  ·  Nikhil Jain  ·  Saurabh Rawat</a:t>
            </a:r>
            <a:endParaRPr b="0" lang="en-US" sz="1200" spc="-1" strike="noStrike">
              <a:solidFill>
                <a:srgbClr val="ffffff"/>
              </a:solidFill>
              <a:latin typeface="Arial"/>
            </a:endParaRPr>
          </a:p>
        </p:txBody>
      </p:sp>
      <p:sp>
        <p:nvSpPr>
          <p:cNvPr id="15" name="Text 6"/>
          <p:cNvSpPr/>
          <p:nvPr/>
        </p:nvSpPr>
        <p:spPr>
          <a:xfrm>
            <a:off x="914400" y="4434840"/>
            <a:ext cx="73141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pc="-1" strike="noStrike">
                <a:solidFill>
                  <a:srgbClr val="94a3b8"/>
                </a:solidFill>
                <a:latin typeface="Calibri"/>
                <a:ea typeface="Calibri"/>
              </a:rPr>
              <a:t>Behavioral Research: Statistical Methods  |  March 11, 2026</a:t>
            </a:r>
            <a:endParaRPr b="0" lang="en-US" sz="1100" spc="-1" strike="noStrike">
              <a:solidFill>
                <a:srgbClr val="ffffff"/>
              </a:solidFill>
              <a:latin typeface="Arial"/>
            </a:endParaRPr>
          </a:p>
        </p:txBody>
      </p:sp>
      <p:sp>
        <p:nvSpPr>
          <p:cNvPr id="16" name="Shape 7"/>
          <p:cNvSpPr/>
          <p:nvPr/>
        </p:nvSpPr>
        <p:spPr>
          <a:xfrm>
            <a:off x="0" y="5088600"/>
            <a:ext cx="9142920" cy="53640"/>
          </a:xfrm>
          <a:prstGeom prst="rect">
            <a:avLst/>
          </a:prstGeom>
          <a:solidFill>
            <a:srgbClr val="0d9488"/>
          </a:solidFill>
          <a:ln w="0">
            <a:noFill/>
          </a:ln>
        </p:spPr>
        <p:style>
          <a:lnRef idx="0"/>
          <a:fillRef idx="0"/>
          <a:effectRef idx="0"/>
          <a:fontRef idx="minor"/>
        </p:style>
        <p:txBody>
          <a:bodyPr lIns="90000" rIns="90000" tIns="9720" bIns="9720" anchor="t">
            <a:noAutofit/>
          </a:bodyPr>
          <a:p>
            <a:pPr>
              <a:lnSpc>
                <a:spcPct val="100000"/>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7" name="Shape 0"/>
          <p:cNvSpPr/>
          <p:nvPr/>
        </p:nvSpPr>
        <p:spPr>
          <a:xfrm>
            <a:off x="0" y="0"/>
            <a:ext cx="53640" cy="51426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8" name="Text 1"/>
          <p:cNvSpPr/>
          <p:nvPr/>
        </p:nvSpPr>
        <p:spPr>
          <a:xfrm>
            <a:off x="640080" y="274320"/>
            <a:ext cx="5485320" cy="639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1a2744"/>
                </a:solidFill>
                <a:latin typeface="Georgia"/>
                <a:ea typeface="Georgia"/>
              </a:rPr>
              <a:t>The Mental Lexicon</a:t>
            </a:r>
            <a:endParaRPr b="0" lang="en-US" sz="3000" spc="-1" strike="noStrike">
              <a:solidFill>
                <a:srgbClr val="000000"/>
              </a:solidFill>
              <a:latin typeface="Arial"/>
            </a:endParaRPr>
          </a:p>
        </p:txBody>
      </p:sp>
      <p:sp>
        <p:nvSpPr>
          <p:cNvPr id="19" name="Text 2"/>
          <p:cNvSpPr/>
          <p:nvPr/>
        </p:nvSpPr>
        <p:spPr>
          <a:xfrm>
            <a:off x="640080" y="868680"/>
            <a:ext cx="54853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0d9488"/>
                </a:solidFill>
                <a:latin typeface="Calibri"/>
                <a:ea typeface="Calibri"/>
              </a:rPr>
              <a:t>How words live in your mind</a:t>
            </a:r>
            <a:endParaRPr b="0" lang="en-US" sz="1300" spc="-1" strike="noStrike">
              <a:solidFill>
                <a:srgbClr val="000000"/>
              </a:solidFill>
              <a:latin typeface="Arial"/>
            </a:endParaRPr>
          </a:p>
        </p:txBody>
      </p:sp>
      <p:sp>
        <p:nvSpPr>
          <p:cNvPr id="20" name="Shape 3"/>
          <p:cNvSpPr/>
          <p:nvPr/>
        </p:nvSpPr>
        <p:spPr>
          <a:xfrm>
            <a:off x="640080" y="1417320"/>
            <a:ext cx="4753800" cy="319932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 name="Shape 4"/>
          <p:cNvSpPr/>
          <p:nvPr/>
        </p:nvSpPr>
        <p:spPr>
          <a:xfrm>
            <a:off x="640080" y="1417320"/>
            <a:ext cx="4753800" cy="44640"/>
          </a:xfrm>
          <a:prstGeom prst="rect">
            <a:avLst/>
          </a:prstGeom>
          <a:solidFill>
            <a:srgbClr val="0d9488"/>
          </a:solidFill>
          <a:ln w="0">
            <a:noFill/>
          </a:ln>
        </p:spPr>
        <p:style>
          <a:lnRef idx="0"/>
          <a:fillRef idx="0"/>
          <a:effectRef idx="0"/>
          <a:fontRef idx="minor"/>
        </p:style>
        <p:txBody>
          <a:bodyPr lIns="90000" rIns="90000" tIns="720" bIns="720" anchor="t">
            <a:noAutofit/>
          </a:bodyPr>
          <a:p>
            <a:pPr>
              <a:lnSpc>
                <a:spcPct val="100000"/>
              </a:lnSpc>
            </a:pPr>
            <a:endParaRPr b="0" lang="en-US" sz="1800" spc="-1" strike="noStrike">
              <a:solidFill>
                <a:srgbClr val="ffffff"/>
              </a:solidFill>
              <a:latin typeface="Arial"/>
            </a:endParaRPr>
          </a:p>
        </p:txBody>
      </p:sp>
      <p:sp>
        <p:nvSpPr>
          <p:cNvPr id="22" name="Text 5"/>
          <p:cNvSpPr/>
          <p:nvPr/>
        </p:nvSpPr>
        <p:spPr>
          <a:xfrm>
            <a:off x="914400" y="1600200"/>
            <a:ext cx="4205160" cy="2833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1e293b"/>
                </a:solidFill>
                <a:latin typeface="Calibri"/>
                <a:ea typeface="Calibri"/>
              </a:rPr>
              <a:t>Structured Internal Store</a:t>
            </a:r>
            <a:endParaRPr b="0" lang="en-US" sz="1400" spc="-1" strike="noStrike">
              <a:solidFill>
                <a:srgbClr val="000000"/>
              </a:solidFill>
              <a:latin typeface="Arial"/>
            </a:endParaRPr>
          </a:p>
          <a:p>
            <a:pPr defTabSz="914400">
              <a:lnSpc>
                <a:spcPct val="100000"/>
              </a:lnSpc>
              <a:spcAft>
                <a:spcPts val="1199"/>
              </a:spcAft>
              <a:tabLst>
                <a:tab algn="l" pos="0"/>
              </a:tabLst>
            </a:pPr>
            <a:r>
              <a:rPr b="0" lang="en-US" sz="1200" spc="-1" strike="noStrike">
                <a:solidFill>
                  <a:srgbClr val="475569"/>
                </a:solidFill>
                <a:latin typeface="Calibri"/>
                <a:ea typeface="Calibri"/>
              </a:rPr>
              <a:t>The mental lexicon is the organized network of words, meanings, and associations available to a speaker — not a random list but a richly connected system.</a:t>
            </a:r>
            <a:endParaRPr b="0" lang="en-US" sz="1200" spc="-1" strike="noStrike">
              <a:solidFill>
                <a:srgbClr val="000000"/>
              </a:solidFill>
              <a:latin typeface="Arial"/>
            </a:endParaRPr>
          </a:p>
          <a:p>
            <a:pPr defTabSz="914400">
              <a:lnSpc>
                <a:spcPct val="100000"/>
              </a:lnSpc>
              <a:tabLst>
                <a:tab algn="l" pos="0"/>
              </a:tabLst>
            </a:pPr>
            <a:r>
              <a:rPr b="1" lang="en-US" sz="1400" spc="-1" strike="noStrike">
                <a:solidFill>
                  <a:srgbClr val="1e293b"/>
                </a:solidFill>
                <a:latin typeface="Calibri"/>
                <a:ea typeface="Calibri"/>
              </a:rPr>
              <a:t>Retrieval Reveals Structure</a:t>
            </a:r>
            <a:endParaRPr b="0" lang="en-US" sz="1400" spc="-1" strike="noStrike">
              <a:solidFill>
                <a:srgbClr val="000000"/>
              </a:solidFill>
              <a:latin typeface="Arial"/>
            </a:endParaRPr>
          </a:p>
          <a:p>
            <a:pPr defTabSz="914400">
              <a:lnSpc>
                <a:spcPct val="100000"/>
              </a:lnSpc>
              <a:spcAft>
                <a:spcPts val="1199"/>
              </a:spcAft>
              <a:tabLst>
                <a:tab algn="l" pos="0"/>
              </a:tabLst>
            </a:pPr>
            <a:r>
              <a:rPr b="0" lang="en-US" sz="1200" spc="-1" strike="noStrike">
                <a:solidFill>
                  <a:srgbClr val="475569"/>
                </a:solidFill>
                <a:latin typeface="Calibri"/>
                <a:ea typeface="Calibri"/>
              </a:rPr>
              <a:t>When asked to generate related words, speakers search through this internal network — revealing clusters, activation patterns, and search efficiency.</a:t>
            </a:r>
            <a:endParaRPr b="0" lang="en-US" sz="1200" spc="-1" strike="noStrike">
              <a:solidFill>
                <a:srgbClr val="000000"/>
              </a:solidFill>
              <a:latin typeface="Arial"/>
            </a:endParaRPr>
          </a:p>
          <a:p>
            <a:pPr defTabSz="914400">
              <a:lnSpc>
                <a:spcPct val="100000"/>
              </a:lnSpc>
              <a:tabLst>
                <a:tab algn="l" pos="0"/>
              </a:tabLst>
            </a:pPr>
            <a:r>
              <a:rPr b="1" lang="en-US" sz="1400" spc="-1" strike="noStrike">
                <a:solidFill>
                  <a:srgbClr val="1e293b"/>
                </a:solidFill>
                <a:latin typeface="Calibri"/>
                <a:ea typeface="Calibri"/>
              </a:rPr>
              <a:t>Semantic + Phonological Links</a:t>
            </a:r>
            <a:endParaRPr b="0" lang="en-US" sz="1400" spc="-1" strike="noStrike">
              <a:solidFill>
                <a:srgbClr val="000000"/>
              </a:solidFill>
              <a:latin typeface="Arial"/>
            </a:endParaRPr>
          </a:p>
          <a:p>
            <a:pPr defTabSz="914400">
              <a:lnSpc>
                <a:spcPct val="100000"/>
              </a:lnSpc>
              <a:tabLst>
                <a:tab algn="l" pos="0"/>
              </a:tabLst>
            </a:pPr>
            <a:r>
              <a:rPr b="0" lang="en-US" sz="1200" spc="-1" strike="noStrike">
                <a:solidFill>
                  <a:srgbClr val="475569"/>
                </a:solidFill>
                <a:latin typeface="Calibri"/>
                <a:ea typeface="Calibri"/>
              </a:rPr>
              <a:t>Research shows semantically similar words also tend to have similar forms across languages (Dautriche et al., 2017), and phonological cues can guide search when a cluster is depleted (Kumar et al.).</a:t>
            </a:r>
            <a:endParaRPr b="0" lang="en-US" sz="1200" spc="-1" strike="noStrike">
              <a:solidFill>
                <a:srgbClr val="000000"/>
              </a:solidFill>
              <a:latin typeface="Arial"/>
            </a:endParaRPr>
          </a:p>
        </p:txBody>
      </p:sp>
      <p:sp>
        <p:nvSpPr>
          <p:cNvPr id="23" name="Shape 6"/>
          <p:cNvSpPr/>
          <p:nvPr/>
        </p:nvSpPr>
        <p:spPr>
          <a:xfrm>
            <a:off x="5852160" y="1005840"/>
            <a:ext cx="2925000" cy="3565080"/>
          </a:xfrm>
          <a:prstGeom prst="rect">
            <a:avLst/>
          </a:prstGeom>
          <a:solidFill>
            <a:srgbClr val="1a2744"/>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24" name="Image 0" descr="preencoded.png"/>
          <p:cNvPicPr/>
          <p:nvPr/>
        </p:nvPicPr>
        <p:blipFill>
          <a:blip r:embed="rId1"/>
          <a:stretch/>
        </p:blipFill>
        <p:spPr>
          <a:xfrm>
            <a:off x="6812280" y="1645920"/>
            <a:ext cx="1004760" cy="1004760"/>
          </a:xfrm>
          <a:prstGeom prst="rect">
            <a:avLst/>
          </a:prstGeom>
          <a:ln w="0">
            <a:noFill/>
          </a:ln>
        </p:spPr>
      </p:pic>
      <p:sp>
        <p:nvSpPr>
          <p:cNvPr id="25" name="Text 7"/>
          <p:cNvSpPr/>
          <p:nvPr/>
        </p:nvSpPr>
        <p:spPr>
          <a:xfrm>
            <a:off x="6035040" y="2834640"/>
            <a:ext cx="2559240" cy="6390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200" spc="-1" strike="noStrike">
                <a:solidFill>
                  <a:srgbClr val="5eead4"/>
                </a:solidFill>
                <a:latin typeface="Calibri"/>
                <a:ea typeface="Calibri"/>
              </a:rPr>
              <a:t>Hindi speakers</a:t>
            </a:r>
            <a:endParaRPr b="0" lang="en-US" sz="1200" spc="-1" strike="noStrike">
              <a:solidFill>
                <a:srgbClr val="000000"/>
              </a:solidFill>
              <a:latin typeface="Arial"/>
            </a:endParaRPr>
          </a:p>
          <a:p>
            <a:pPr algn="ctr" defTabSz="914400">
              <a:lnSpc>
                <a:spcPct val="100000"/>
              </a:lnSpc>
              <a:tabLst>
                <a:tab algn="l" pos="0"/>
              </a:tabLst>
            </a:pPr>
            <a:r>
              <a:rPr b="0" lang="en-US" sz="1200" spc="-1" strike="noStrike">
                <a:solidFill>
                  <a:srgbClr val="5eead4"/>
                </a:solidFill>
                <a:latin typeface="Calibri"/>
                <a:ea typeface="Calibri"/>
              </a:rPr>
              <a:t>retrieval patterns</a:t>
            </a:r>
            <a:endParaRPr b="0" lang="en-US" sz="1200" spc="-1" strike="noStrike">
              <a:solidFill>
                <a:srgbClr val="000000"/>
              </a:solidFill>
              <a:latin typeface="Arial"/>
            </a:endParaRPr>
          </a:p>
        </p:txBody>
      </p:sp>
      <p:sp>
        <p:nvSpPr>
          <p:cNvPr id="26" name="Text 8"/>
          <p:cNvSpPr/>
          <p:nvPr/>
        </p:nvSpPr>
        <p:spPr>
          <a:xfrm>
            <a:off x="6035040" y="3429000"/>
            <a:ext cx="2559240" cy="364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800" spc="-1" strike="noStrike">
                <a:solidFill>
                  <a:srgbClr val="ffffff"/>
                </a:solidFill>
                <a:latin typeface="Georgia"/>
                <a:ea typeface="Georgia"/>
              </a:rPr>
              <a:t>VFT + SpAM</a:t>
            </a:r>
            <a:endParaRPr b="0" lang="en-US" sz="1800" spc="-1" strike="noStrike">
              <a:solidFill>
                <a:srgbClr val="000000"/>
              </a:solidFill>
              <a:latin typeface="Arial"/>
            </a:endParaRPr>
          </a:p>
        </p:txBody>
      </p:sp>
      <p:sp>
        <p:nvSpPr>
          <p:cNvPr id="27" name="Text 9"/>
          <p:cNvSpPr/>
          <p:nvPr/>
        </p:nvSpPr>
        <p:spPr>
          <a:xfrm>
            <a:off x="6035040" y="3794760"/>
            <a:ext cx="255924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100" spc="-1" strike="noStrike">
                <a:solidFill>
                  <a:srgbClr val="94a3b8"/>
                </a:solidFill>
                <a:latin typeface="Calibri"/>
                <a:ea typeface="Calibri"/>
              </a:rPr>
              <a:t>Two complementary tasks</a:t>
            </a:r>
            <a:endParaRPr b="0" lang="en-US" sz="1100" spc="-1" strike="noStrike">
              <a:solidFill>
                <a:srgbClr val="000000"/>
              </a:solidFill>
              <a:latin typeface="Arial"/>
            </a:endParaRPr>
          </a:p>
          <a:p>
            <a:pPr algn="ctr" defTabSz="914400">
              <a:lnSpc>
                <a:spcPct val="100000"/>
              </a:lnSpc>
              <a:tabLst>
                <a:tab algn="l" pos="0"/>
              </a:tabLst>
            </a:pPr>
            <a:r>
              <a:rPr b="0" lang="en-US" sz="1100" spc="-1" strike="noStrike">
                <a:solidFill>
                  <a:srgbClr val="94a3b8"/>
                </a:solidFill>
                <a:latin typeface="Calibri"/>
                <a:ea typeface="Calibri"/>
              </a:rPr>
              <a:t>to map the mental lexicon</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2744"/>
        </a:solidFill>
      </p:bgPr>
    </p:bg>
    <p:spTree>
      <p:nvGrpSpPr>
        <p:cNvPr id="1" name=""/>
        <p:cNvGrpSpPr/>
        <p:nvPr/>
      </p:nvGrpSpPr>
      <p:grpSpPr>
        <a:xfrm>
          <a:off x="0" y="0"/>
          <a:ext cx="0" cy="0"/>
          <a:chOff x="0" y="0"/>
          <a:chExt cx="0" cy="0"/>
        </a:xfrm>
      </p:grpSpPr>
      <p:sp>
        <p:nvSpPr>
          <p:cNvPr id="28" name="Text 0"/>
          <p:cNvSpPr/>
          <p:nvPr/>
        </p:nvSpPr>
        <p:spPr>
          <a:xfrm>
            <a:off x="640080" y="274320"/>
            <a:ext cx="7862760" cy="639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pc="-1" strike="noStrike">
                <a:solidFill>
                  <a:srgbClr val="ffffff"/>
                </a:solidFill>
                <a:latin typeface="Georgia"/>
                <a:ea typeface="Georgia"/>
              </a:rPr>
              <a:t>Research Questions</a:t>
            </a:r>
            <a:endParaRPr b="0" lang="en-US" sz="3000" spc="-1" strike="noStrike">
              <a:solidFill>
                <a:srgbClr val="ffffff"/>
              </a:solidFill>
              <a:latin typeface="Arial"/>
            </a:endParaRPr>
          </a:p>
        </p:txBody>
      </p:sp>
      <p:sp>
        <p:nvSpPr>
          <p:cNvPr id="29" name="Text 1"/>
          <p:cNvSpPr/>
          <p:nvPr/>
        </p:nvSpPr>
        <p:spPr>
          <a:xfrm>
            <a:off x="640080" y="868680"/>
            <a:ext cx="73141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5eead4"/>
                </a:solidFill>
                <a:latin typeface="Calibri"/>
                <a:ea typeface="Calibri"/>
              </a:rPr>
              <a:t>Three hypotheses guiding our investigation</a:t>
            </a:r>
            <a:endParaRPr b="0" lang="en-US" sz="1300" spc="-1" strike="noStrike">
              <a:solidFill>
                <a:srgbClr val="ffffff"/>
              </a:solidFill>
              <a:latin typeface="Arial"/>
            </a:endParaRPr>
          </a:p>
        </p:txBody>
      </p:sp>
      <p:sp>
        <p:nvSpPr>
          <p:cNvPr id="30" name="Shape 2"/>
          <p:cNvSpPr/>
          <p:nvPr/>
        </p:nvSpPr>
        <p:spPr>
          <a:xfrm>
            <a:off x="548640" y="1463040"/>
            <a:ext cx="2467800" cy="310788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1" name="Shape 3"/>
          <p:cNvSpPr/>
          <p:nvPr/>
        </p:nvSpPr>
        <p:spPr>
          <a:xfrm>
            <a:off x="1463040" y="1737360"/>
            <a:ext cx="639000" cy="639000"/>
          </a:xfrm>
          <a:prstGeom prst="ellipse">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32" name="Image 0" descr="preencoded.png"/>
          <p:cNvPicPr/>
          <p:nvPr/>
        </p:nvPicPr>
        <p:blipFill>
          <a:blip r:embed="rId1"/>
          <a:stretch/>
        </p:blipFill>
        <p:spPr>
          <a:xfrm>
            <a:off x="1600200" y="1874520"/>
            <a:ext cx="364680" cy="364680"/>
          </a:xfrm>
          <a:prstGeom prst="rect">
            <a:avLst/>
          </a:prstGeom>
          <a:ln w="0">
            <a:noFill/>
          </a:ln>
        </p:spPr>
      </p:pic>
      <p:sp>
        <p:nvSpPr>
          <p:cNvPr id="33" name="Text 4"/>
          <p:cNvSpPr/>
          <p:nvPr/>
        </p:nvSpPr>
        <p:spPr>
          <a:xfrm>
            <a:off x="548640" y="2514600"/>
            <a:ext cx="246780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4b8a6"/>
                </a:solidFill>
                <a:latin typeface="Calibri"/>
                <a:ea typeface="Calibri"/>
              </a:rPr>
              <a:t>RQ1</a:t>
            </a:r>
            <a:endParaRPr b="0" lang="en-US" sz="1100" spc="-1" strike="noStrike">
              <a:solidFill>
                <a:srgbClr val="ffffff"/>
              </a:solidFill>
              <a:latin typeface="Arial"/>
            </a:endParaRPr>
          </a:p>
        </p:txBody>
      </p:sp>
      <p:sp>
        <p:nvSpPr>
          <p:cNvPr id="34" name="Text 5"/>
          <p:cNvSpPr/>
          <p:nvPr/>
        </p:nvSpPr>
        <p:spPr>
          <a:xfrm>
            <a:off x="731520" y="2788920"/>
            <a:ext cx="210204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5000"/>
              </a:lnSpc>
              <a:tabLst>
                <a:tab algn="l" pos="0"/>
              </a:tabLst>
            </a:pPr>
            <a:r>
              <a:rPr b="1" lang="en-US" sz="1500" spc="-1" strike="noStrike">
                <a:solidFill>
                  <a:srgbClr val="ffffff"/>
                </a:solidFill>
                <a:latin typeface="Georgia"/>
                <a:ea typeface="Georgia"/>
              </a:rPr>
              <a:t>Semantic</a:t>
            </a:r>
            <a:endParaRPr b="0" lang="en-US" sz="1500" spc="-1" strike="noStrike">
              <a:solidFill>
                <a:srgbClr val="ffffff"/>
              </a:solidFill>
              <a:latin typeface="Arial"/>
            </a:endParaRPr>
          </a:p>
          <a:p>
            <a:pPr algn="ctr" defTabSz="914400">
              <a:lnSpc>
                <a:spcPct val="105000"/>
              </a:lnSpc>
              <a:tabLst>
                <a:tab algn="l" pos="0"/>
              </a:tabLst>
            </a:pPr>
            <a:r>
              <a:rPr b="1" lang="en-US" sz="1500" spc="-1" strike="noStrike">
                <a:solidFill>
                  <a:srgbClr val="ffffff"/>
                </a:solidFill>
                <a:latin typeface="Georgia"/>
                <a:ea typeface="Georgia"/>
              </a:rPr>
              <a:t>Clustering</a:t>
            </a:r>
            <a:endParaRPr b="0" lang="en-US" sz="1500" spc="-1" strike="noStrike">
              <a:solidFill>
                <a:srgbClr val="ffffff"/>
              </a:solidFill>
              <a:latin typeface="Arial"/>
            </a:endParaRPr>
          </a:p>
        </p:txBody>
      </p:sp>
      <p:sp>
        <p:nvSpPr>
          <p:cNvPr id="35" name="Text 6"/>
          <p:cNvSpPr/>
          <p:nvPr/>
        </p:nvSpPr>
        <p:spPr>
          <a:xfrm>
            <a:off x="777240" y="3429000"/>
            <a:ext cx="2010600" cy="1004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0000"/>
              </a:lnSpc>
              <a:tabLst>
                <a:tab algn="l" pos="0"/>
              </a:tabLst>
            </a:pPr>
            <a:r>
              <a:rPr b="0" lang="en-US" sz="1050" spc="-1" strike="noStrike">
                <a:solidFill>
                  <a:srgbClr val="94a3b8"/>
                </a:solidFill>
                <a:latin typeface="Calibri"/>
                <a:ea typeface="Calibri"/>
              </a:rPr>
              <a:t>Do Hindi speakers retrieve words in semantic clusters rather than randomly? Consecutive words should be semantically closer than random pairs.</a:t>
            </a:r>
            <a:endParaRPr b="0" lang="en-US" sz="1050" spc="-1" strike="noStrike">
              <a:solidFill>
                <a:srgbClr val="ffffff"/>
              </a:solidFill>
              <a:latin typeface="Arial"/>
            </a:endParaRPr>
          </a:p>
        </p:txBody>
      </p:sp>
      <p:sp>
        <p:nvSpPr>
          <p:cNvPr id="36" name="Shape 7"/>
          <p:cNvSpPr/>
          <p:nvPr/>
        </p:nvSpPr>
        <p:spPr>
          <a:xfrm>
            <a:off x="3337560" y="1463040"/>
            <a:ext cx="2467800" cy="310788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37" name="Shape 8"/>
          <p:cNvSpPr/>
          <p:nvPr/>
        </p:nvSpPr>
        <p:spPr>
          <a:xfrm>
            <a:off x="4251960" y="1737360"/>
            <a:ext cx="639000" cy="639000"/>
          </a:xfrm>
          <a:prstGeom prst="ellipse">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38" name="Image 1" descr="preencoded.png"/>
          <p:cNvPicPr/>
          <p:nvPr/>
        </p:nvPicPr>
        <p:blipFill>
          <a:blip r:embed="rId2"/>
          <a:stretch/>
        </p:blipFill>
        <p:spPr>
          <a:xfrm>
            <a:off x="4389120" y="1874520"/>
            <a:ext cx="364680" cy="364680"/>
          </a:xfrm>
          <a:prstGeom prst="rect">
            <a:avLst/>
          </a:prstGeom>
          <a:ln w="0">
            <a:noFill/>
          </a:ln>
        </p:spPr>
      </p:pic>
      <p:sp>
        <p:nvSpPr>
          <p:cNvPr id="39" name="Text 9"/>
          <p:cNvSpPr/>
          <p:nvPr/>
        </p:nvSpPr>
        <p:spPr>
          <a:xfrm>
            <a:off x="3337560" y="2514600"/>
            <a:ext cx="246780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4b8a6"/>
                </a:solidFill>
                <a:latin typeface="Calibri"/>
                <a:ea typeface="Calibri"/>
              </a:rPr>
              <a:t>RQ2</a:t>
            </a:r>
            <a:endParaRPr b="0" lang="en-US" sz="1100" spc="-1" strike="noStrike">
              <a:solidFill>
                <a:srgbClr val="ffffff"/>
              </a:solidFill>
              <a:latin typeface="Arial"/>
            </a:endParaRPr>
          </a:p>
        </p:txBody>
      </p:sp>
      <p:sp>
        <p:nvSpPr>
          <p:cNvPr id="40" name="Text 10"/>
          <p:cNvSpPr/>
          <p:nvPr/>
        </p:nvSpPr>
        <p:spPr>
          <a:xfrm>
            <a:off x="3520440" y="2788920"/>
            <a:ext cx="210204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5000"/>
              </a:lnSpc>
              <a:tabLst>
                <a:tab algn="l" pos="0"/>
              </a:tabLst>
            </a:pPr>
            <a:r>
              <a:rPr b="1" lang="en-US" sz="1500" spc="-1" strike="noStrike">
                <a:solidFill>
                  <a:srgbClr val="ffffff"/>
                </a:solidFill>
                <a:latin typeface="Georgia"/>
                <a:ea typeface="Georgia"/>
              </a:rPr>
              <a:t>Neighbourhood</a:t>
            </a:r>
            <a:endParaRPr b="0" lang="en-US" sz="1500" spc="-1" strike="noStrike">
              <a:solidFill>
                <a:srgbClr val="ffffff"/>
              </a:solidFill>
              <a:latin typeface="Arial"/>
            </a:endParaRPr>
          </a:p>
          <a:p>
            <a:pPr algn="ctr" defTabSz="914400">
              <a:lnSpc>
                <a:spcPct val="105000"/>
              </a:lnSpc>
              <a:tabLst>
                <a:tab algn="l" pos="0"/>
              </a:tabLst>
            </a:pPr>
            <a:r>
              <a:rPr b="1" lang="en-US" sz="1500" spc="-1" strike="noStrike">
                <a:solidFill>
                  <a:srgbClr val="ffffff"/>
                </a:solidFill>
                <a:latin typeface="Georgia"/>
                <a:ea typeface="Georgia"/>
              </a:rPr>
              <a:t>Density</a:t>
            </a:r>
            <a:endParaRPr b="0" lang="en-US" sz="1500" spc="-1" strike="noStrike">
              <a:solidFill>
                <a:srgbClr val="ffffff"/>
              </a:solidFill>
              <a:latin typeface="Arial"/>
            </a:endParaRPr>
          </a:p>
        </p:txBody>
      </p:sp>
      <p:sp>
        <p:nvSpPr>
          <p:cNvPr id="41" name="Text 11"/>
          <p:cNvSpPr/>
          <p:nvPr/>
        </p:nvSpPr>
        <p:spPr>
          <a:xfrm>
            <a:off x="3566160" y="3429000"/>
            <a:ext cx="2010600" cy="1004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0000"/>
              </a:lnSpc>
              <a:tabLst>
                <a:tab algn="l" pos="0"/>
              </a:tabLst>
            </a:pPr>
            <a:r>
              <a:rPr b="0" lang="en-US" sz="1050" spc="-1" strike="noStrike">
                <a:solidFill>
                  <a:srgbClr val="94a3b8"/>
                </a:solidFill>
                <a:latin typeface="Calibri"/>
                <a:ea typeface="Calibri"/>
              </a:rPr>
              <a:t>Do faster retrievals reflect tighter semantic neighbourhoods? Dense regions should yield quicker responses.</a:t>
            </a:r>
            <a:endParaRPr b="0" lang="en-US" sz="1050" spc="-1" strike="noStrike">
              <a:solidFill>
                <a:srgbClr val="ffffff"/>
              </a:solidFill>
              <a:latin typeface="Arial"/>
            </a:endParaRPr>
          </a:p>
        </p:txBody>
      </p:sp>
      <p:sp>
        <p:nvSpPr>
          <p:cNvPr id="42" name="Shape 12"/>
          <p:cNvSpPr/>
          <p:nvPr/>
        </p:nvSpPr>
        <p:spPr>
          <a:xfrm>
            <a:off x="6126480" y="1463040"/>
            <a:ext cx="2467800" cy="310788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 name="Shape 13"/>
          <p:cNvSpPr/>
          <p:nvPr/>
        </p:nvSpPr>
        <p:spPr>
          <a:xfrm>
            <a:off x="7040880" y="1737360"/>
            <a:ext cx="639000" cy="639000"/>
          </a:xfrm>
          <a:prstGeom prst="ellipse">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44" name="Image 2" descr="preencoded.png"/>
          <p:cNvPicPr/>
          <p:nvPr/>
        </p:nvPicPr>
        <p:blipFill>
          <a:blip r:embed="rId3"/>
          <a:stretch/>
        </p:blipFill>
        <p:spPr>
          <a:xfrm>
            <a:off x="7178040" y="1874520"/>
            <a:ext cx="364680" cy="364680"/>
          </a:xfrm>
          <a:prstGeom prst="rect">
            <a:avLst/>
          </a:prstGeom>
          <a:ln w="0">
            <a:noFill/>
          </a:ln>
        </p:spPr>
      </p:pic>
      <p:sp>
        <p:nvSpPr>
          <p:cNvPr id="45" name="Text 14"/>
          <p:cNvSpPr/>
          <p:nvPr/>
        </p:nvSpPr>
        <p:spPr>
          <a:xfrm>
            <a:off x="6126480" y="2514600"/>
            <a:ext cx="246780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14b8a6"/>
                </a:solidFill>
                <a:latin typeface="Calibri"/>
                <a:ea typeface="Calibri"/>
              </a:rPr>
              <a:t>RQ3</a:t>
            </a:r>
            <a:endParaRPr b="0" lang="en-US" sz="1100" spc="-1" strike="noStrike">
              <a:solidFill>
                <a:srgbClr val="ffffff"/>
              </a:solidFill>
              <a:latin typeface="Arial"/>
            </a:endParaRPr>
          </a:p>
        </p:txBody>
      </p:sp>
      <p:sp>
        <p:nvSpPr>
          <p:cNvPr id="46" name="Text 15"/>
          <p:cNvSpPr/>
          <p:nvPr/>
        </p:nvSpPr>
        <p:spPr>
          <a:xfrm>
            <a:off x="6309360" y="2788920"/>
            <a:ext cx="210204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5000"/>
              </a:lnSpc>
              <a:tabLst>
                <a:tab algn="l" pos="0"/>
              </a:tabLst>
            </a:pPr>
            <a:r>
              <a:rPr b="1" lang="en-US" sz="1500" spc="-1" strike="noStrike">
                <a:solidFill>
                  <a:srgbClr val="ffffff"/>
                </a:solidFill>
                <a:latin typeface="Georgia"/>
                <a:ea typeface="Georgia"/>
              </a:rPr>
              <a:t>Fluency &amp;</a:t>
            </a:r>
            <a:endParaRPr b="0" lang="en-US" sz="1500" spc="-1" strike="noStrike">
              <a:solidFill>
                <a:srgbClr val="ffffff"/>
              </a:solidFill>
              <a:latin typeface="Arial"/>
            </a:endParaRPr>
          </a:p>
          <a:p>
            <a:pPr algn="ctr" defTabSz="914400">
              <a:lnSpc>
                <a:spcPct val="105000"/>
              </a:lnSpc>
              <a:tabLst>
                <a:tab algn="l" pos="0"/>
              </a:tabLst>
            </a:pPr>
            <a:r>
              <a:rPr b="1" lang="en-US" sz="1500" spc="-1" strike="noStrike">
                <a:solidFill>
                  <a:srgbClr val="ffffff"/>
                </a:solidFill>
                <a:latin typeface="Georgia"/>
                <a:ea typeface="Georgia"/>
              </a:rPr>
              <a:t>Efficiency</a:t>
            </a:r>
            <a:endParaRPr b="0" lang="en-US" sz="1500" spc="-1" strike="noStrike">
              <a:solidFill>
                <a:srgbClr val="ffffff"/>
              </a:solidFill>
              <a:latin typeface="Arial"/>
            </a:endParaRPr>
          </a:p>
        </p:txBody>
      </p:sp>
      <p:sp>
        <p:nvSpPr>
          <p:cNvPr id="47" name="Text 16"/>
          <p:cNvSpPr/>
          <p:nvPr/>
        </p:nvSpPr>
        <p:spPr>
          <a:xfrm>
            <a:off x="6355080" y="3429000"/>
            <a:ext cx="2010600" cy="1004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20000"/>
              </a:lnSpc>
              <a:tabLst>
                <a:tab algn="l" pos="0"/>
              </a:tabLst>
            </a:pPr>
            <a:r>
              <a:rPr b="0" lang="en-US" sz="1050" spc="-1" strike="noStrike">
                <a:solidFill>
                  <a:srgbClr val="94a3b8"/>
                </a:solidFill>
                <a:latin typeface="Calibri"/>
                <a:ea typeface="Calibri"/>
              </a:rPr>
              <a:t>Does Hindi fluency predict retrieval efficiency? More fluent speakers should produce more words, faster, in larger clusters.</a:t>
            </a:r>
            <a:endParaRPr b="0" lang="en-US" sz="10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48" name="Shape 0"/>
          <p:cNvSpPr/>
          <p:nvPr/>
        </p:nvSpPr>
        <p:spPr>
          <a:xfrm>
            <a:off x="0" y="0"/>
            <a:ext cx="53640" cy="51426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9" name="Text 1"/>
          <p:cNvSpPr/>
          <p:nvPr/>
        </p:nvSpPr>
        <p:spPr>
          <a:xfrm>
            <a:off x="640080" y="274320"/>
            <a:ext cx="7314120" cy="639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a2744"/>
                </a:solidFill>
                <a:latin typeface="Georgia"/>
                <a:ea typeface="Georgia"/>
              </a:rPr>
              <a:t>Methodology — Two Core Tasks</a:t>
            </a:r>
            <a:endParaRPr b="0" lang="en-US" sz="2800" spc="-1" strike="noStrike">
              <a:solidFill>
                <a:srgbClr val="000000"/>
              </a:solidFill>
              <a:latin typeface="Arial"/>
            </a:endParaRPr>
          </a:p>
        </p:txBody>
      </p:sp>
      <p:sp>
        <p:nvSpPr>
          <p:cNvPr id="50" name="Shape 2"/>
          <p:cNvSpPr/>
          <p:nvPr/>
        </p:nvSpPr>
        <p:spPr>
          <a:xfrm>
            <a:off x="640080" y="1188720"/>
            <a:ext cx="3747960" cy="34736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1" name="Shape 3"/>
          <p:cNvSpPr/>
          <p:nvPr/>
        </p:nvSpPr>
        <p:spPr>
          <a:xfrm>
            <a:off x="640080" y="1188720"/>
            <a:ext cx="3747960" cy="44640"/>
          </a:xfrm>
          <a:prstGeom prst="rect">
            <a:avLst/>
          </a:prstGeom>
          <a:solidFill>
            <a:srgbClr val="0d9488"/>
          </a:solidFill>
          <a:ln w="0">
            <a:noFill/>
          </a:ln>
        </p:spPr>
        <p:style>
          <a:lnRef idx="0"/>
          <a:fillRef idx="0"/>
          <a:effectRef idx="0"/>
          <a:fontRef idx="minor"/>
        </p:style>
        <p:txBody>
          <a:bodyPr lIns="90000" rIns="90000" tIns="720" bIns="720" anchor="t">
            <a:noAutofit/>
          </a:bodyPr>
          <a:p>
            <a:pPr>
              <a:lnSpc>
                <a:spcPct val="100000"/>
              </a:lnSpc>
            </a:pPr>
            <a:endParaRPr b="0" lang="en-US" sz="1800" spc="-1" strike="noStrike">
              <a:solidFill>
                <a:srgbClr val="ffffff"/>
              </a:solidFill>
              <a:latin typeface="Arial"/>
            </a:endParaRPr>
          </a:p>
        </p:txBody>
      </p:sp>
      <p:pic>
        <p:nvPicPr>
          <p:cNvPr id="52" name="Image 0" descr="preencoded.png"/>
          <p:cNvPicPr/>
          <p:nvPr/>
        </p:nvPicPr>
        <p:blipFill>
          <a:blip r:embed="rId1"/>
          <a:stretch/>
        </p:blipFill>
        <p:spPr>
          <a:xfrm>
            <a:off x="868680" y="1417320"/>
            <a:ext cx="318960" cy="318960"/>
          </a:xfrm>
          <a:prstGeom prst="rect">
            <a:avLst/>
          </a:prstGeom>
          <a:ln w="0">
            <a:noFill/>
          </a:ln>
        </p:spPr>
      </p:pic>
      <p:sp>
        <p:nvSpPr>
          <p:cNvPr id="53" name="Shape 4"/>
          <p:cNvSpPr/>
          <p:nvPr/>
        </p:nvSpPr>
        <p:spPr>
          <a:xfrm>
            <a:off x="795600" y="1344240"/>
            <a:ext cx="456120" cy="456120"/>
          </a:xfrm>
          <a:prstGeom prst="ellipse">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54" name="Image 1" descr="preencoded.png"/>
          <p:cNvPicPr/>
          <p:nvPr/>
        </p:nvPicPr>
        <p:blipFill>
          <a:blip r:embed="rId2"/>
          <a:stretch/>
        </p:blipFill>
        <p:spPr>
          <a:xfrm>
            <a:off x="868680" y="1417320"/>
            <a:ext cx="318960" cy="318960"/>
          </a:xfrm>
          <a:prstGeom prst="rect">
            <a:avLst/>
          </a:prstGeom>
          <a:ln w="0">
            <a:noFill/>
          </a:ln>
        </p:spPr>
      </p:pic>
      <p:sp>
        <p:nvSpPr>
          <p:cNvPr id="55" name="Text 5"/>
          <p:cNvSpPr/>
          <p:nvPr/>
        </p:nvSpPr>
        <p:spPr>
          <a:xfrm>
            <a:off x="1371600" y="1371600"/>
            <a:ext cx="283356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e293b"/>
                </a:solidFill>
                <a:latin typeface="Georgia"/>
                <a:ea typeface="Georgia"/>
              </a:rPr>
              <a:t>Verbal Fluency Task (VFT)</a:t>
            </a:r>
            <a:endParaRPr b="0" lang="en-US" sz="1500" spc="-1" strike="noStrike">
              <a:solidFill>
                <a:srgbClr val="000000"/>
              </a:solidFill>
              <a:latin typeface="Arial"/>
            </a:endParaRPr>
          </a:p>
        </p:txBody>
      </p:sp>
      <p:sp>
        <p:nvSpPr>
          <p:cNvPr id="56" name="Text 6"/>
          <p:cNvSpPr/>
          <p:nvPr/>
        </p:nvSpPr>
        <p:spPr>
          <a:xfrm>
            <a:off x="914400" y="1920240"/>
            <a:ext cx="3199320" cy="228492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601"/>
              </a:spcAft>
              <a:buClr>
                <a:srgbClr val="475569"/>
              </a:buClr>
              <a:buFont typeface="Symbol" charset="2"/>
              <a:buChar char=""/>
            </a:pPr>
            <a:r>
              <a:rPr b="0" lang="en-US" sz="1200" spc="-1" strike="noStrike">
                <a:solidFill>
                  <a:srgbClr val="475569"/>
                </a:solidFill>
                <a:latin typeface="Calibri"/>
                <a:ea typeface="Calibri"/>
              </a:rPr>
              <a:t>Hindi semantic prompt shown to participant</a:t>
            </a:r>
            <a:endParaRPr b="0" lang="en-US" sz="1200" spc="-1" strike="noStrike">
              <a:solidFill>
                <a:srgbClr val="000000"/>
              </a:solidFill>
              <a:latin typeface="Arial"/>
            </a:endParaRPr>
          </a:p>
          <a:p>
            <a:pPr marL="343080" indent="-343080" defTabSz="914400">
              <a:lnSpc>
                <a:spcPct val="100000"/>
              </a:lnSpc>
              <a:spcAft>
                <a:spcPts val="601"/>
              </a:spcAft>
              <a:buClr>
                <a:srgbClr val="475569"/>
              </a:buClr>
              <a:buFont typeface="Symbol" charset="2"/>
              <a:buChar char=""/>
            </a:pPr>
            <a:r>
              <a:rPr b="0" lang="en-US" sz="1200" spc="-1" strike="noStrike">
                <a:solidFill>
                  <a:srgbClr val="475569"/>
                </a:solidFill>
                <a:latin typeface="Calibri"/>
                <a:ea typeface="Calibri"/>
              </a:rPr>
              <a:t>60-second window to generate related words</a:t>
            </a:r>
            <a:endParaRPr b="0" lang="en-US" sz="1200" spc="-1" strike="noStrike">
              <a:solidFill>
                <a:srgbClr val="000000"/>
              </a:solidFill>
              <a:latin typeface="Arial"/>
            </a:endParaRPr>
          </a:p>
          <a:p>
            <a:pPr marL="343080" indent="-343080" defTabSz="914400">
              <a:lnSpc>
                <a:spcPct val="100000"/>
              </a:lnSpc>
              <a:spcAft>
                <a:spcPts val="601"/>
              </a:spcAft>
              <a:buClr>
                <a:srgbClr val="475569"/>
              </a:buClr>
              <a:buFont typeface="Symbol" charset="2"/>
              <a:buChar char=""/>
            </a:pPr>
            <a:r>
              <a:rPr b="0" lang="en-US" sz="1200" spc="-1" strike="noStrike">
                <a:solidFill>
                  <a:srgbClr val="475569"/>
                </a:solidFill>
                <a:latin typeface="Calibri"/>
                <a:ea typeface="Calibri"/>
              </a:rPr>
              <a:t>Records both words and Inter-Response Time (IRT) in milliseconds</a:t>
            </a:r>
            <a:endParaRPr b="0" lang="en-US" sz="1200" spc="-1" strike="noStrike">
              <a:solidFill>
                <a:srgbClr val="000000"/>
              </a:solidFill>
              <a:latin typeface="Arial"/>
            </a:endParaRPr>
          </a:p>
          <a:p>
            <a:pPr marL="343080" indent="-343080" defTabSz="914400">
              <a:lnSpc>
                <a:spcPct val="100000"/>
              </a:lnSpc>
              <a:buClr>
                <a:srgbClr val="475569"/>
              </a:buClr>
              <a:buFont typeface="Symbol" charset="2"/>
              <a:buChar char=""/>
            </a:pPr>
            <a:r>
              <a:rPr b="0" lang="en-US" sz="1200" spc="-1" strike="noStrike">
                <a:solidFill>
                  <a:srgbClr val="475569"/>
                </a:solidFill>
                <a:latin typeface="Calibri"/>
                <a:ea typeface="Calibri"/>
              </a:rPr>
              <a:t>Captures temporal dynamics of lexical retrieval</a:t>
            </a:r>
            <a:endParaRPr b="0" lang="en-US" sz="1200" spc="-1" strike="noStrike">
              <a:solidFill>
                <a:srgbClr val="000000"/>
              </a:solidFill>
              <a:latin typeface="Arial"/>
            </a:endParaRPr>
          </a:p>
        </p:txBody>
      </p:sp>
      <p:sp>
        <p:nvSpPr>
          <p:cNvPr id="57" name="Shape 7"/>
          <p:cNvSpPr/>
          <p:nvPr/>
        </p:nvSpPr>
        <p:spPr>
          <a:xfrm>
            <a:off x="4754880" y="1188720"/>
            <a:ext cx="3747960" cy="347364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8" name="Shape 8"/>
          <p:cNvSpPr/>
          <p:nvPr/>
        </p:nvSpPr>
        <p:spPr>
          <a:xfrm>
            <a:off x="4754880" y="1188720"/>
            <a:ext cx="3747960" cy="44640"/>
          </a:xfrm>
          <a:prstGeom prst="rect">
            <a:avLst/>
          </a:prstGeom>
          <a:solidFill>
            <a:srgbClr val="f59e0b"/>
          </a:solidFill>
          <a:ln w="0">
            <a:noFill/>
          </a:ln>
        </p:spPr>
        <p:style>
          <a:lnRef idx="0"/>
          <a:fillRef idx="0"/>
          <a:effectRef idx="0"/>
          <a:fontRef idx="minor"/>
        </p:style>
        <p:txBody>
          <a:bodyPr lIns="90000" rIns="90000" tIns="720" bIns="720" anchor="t">
            <a:noAutofit/>
          </a:bodyPr>
          <a:p>
            <a:pPr>
              <a:lnSpc>
                <a:spcPct val="100000"/>
              </a:lnSpc>
            </a:pPr>
            <a:endParaRPr b="0" lang="en-US" sz="1800" spc="-1" strike="noStrike">
              <a:solidFill>
                <a:srgbClr val="000000"/>
              </a:solidFill>
              <a:latin typeface="Arial"/>
            </a:endParaRPr>
          </a:p>
        </p:txBody>
      </p:sp>
      <p:sp>
        <p:nvSpPr>
          <p:cNvPr id="59" name="Shape 9"/>
          <p:cNvSpPr/>
          <p:nvPr/>
        </p:nvSpPr>
        <p:spPr>
          <a:xfrm>
            <a:off x="4910400" y="1344240"/>
            <a:ext cx="456120" cy="456120"/>
          </a:xfrm>
          <a:prstGeom prst="ellipse">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60" name="Image 2" descr="preencoded.png"/>
          <p:cNvPicPr/>
          <p:nvPr/>
        </p:nvPicPr>
        <p:blipFill>
          <a:blip r:embed="rId3"/>
          <a:stretch/>
        </p:blipFill>
        <p:spPr>
          <a:xfrm>
            <a:off x="4983480" y="1417320"/>
            <a:ext cx="318960" cy="318960"/>
          </a:xfrm>
          <a:prstGeom prst="rect">
            <a:avLst/>
          </a:prstGeom>
          <a:ln w="0">
            <a:noFill/>
          </a:ln>
        </p:spPr>
      </p:pic>
      <p:sp>
        <p:nvSpPr>
          <p:cNvPr id="61" name="Text 10"/>
          <p:cNvSpPr/>
          <p:nvPr/>
        </p:nvSpPr>
        <p:spPr>
          <a:xfrm>
            <a:off x="5486400" y="1371600"/>
            <a:ext cx="283356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e293b"/>
                </a:solidFill>
                <a:latin typeface="Georgia"/>
                <a:ea typeface="Georgia"/>
              </a:rPr>
              <a:t>Spatial Arrangement Method (SpAM)</a:t>
            </a:r>
            <a:endParaRPr b="0" lang="en-US" sz="1500" spc="-1" strike="noStrike">
              <a:solidFill>
                <a:srgbClr val="000000"/>
              </a:solidFill>
              <a:latin typeface="Arial"/>
            </a:endParaRPr>
          </a:p>
        </p:txBody>
      </p:sp>
      <p:sp>
        <p:nvSpPr>
          <p:cNvPr id="62" name="Text 11"/>
          <p:cNvSpPr/>
          <p:nvPr/>
        </p:nvSpPr>
        <p:spPr>
          <a:xfrm>
            <a:off x="5029200" y="1920240"/>
            <a:ext cx="3199320" cy="228492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601"/>
              </a:spcAft>
              <a:buClr>
                <a:srgbClr val="475569"/>
              </a:buClr>
              <a:buFont typeface="Symbol" charset="2"/>
              <a:buChar char=""/>
            </a:pPr>
            <a:r>
              <a:rPr b="0" lang="en-US" sz="1200" spc="-1" strike="noStrike">
                <a:solidFill>
                  <a:srgbClr val="475569"/>
                </a:solidFill>
                <a:latin typeface="Calibri"/>
                <a:ea typeface="Calibri"/>
              </a:rPr>
              <a:t>Same participant sees their generated words</a:t>
            </a:r>
            <a:endParaRPr b="0" lang="en-US" sz="1200" spc="-1" strike="noStrike">
              <a:solidFill>
                <a:srgbClr val="000000"/>
              </a:solidFill>
              <a:latin typeface="Arial"/>
            </a:endParaRPr>
          </a:p>
          <a:p>
            <a:pPr marL="343080" indent="-343080" defTabSz="914400">
              <a:lnSpc>
                <a:spcPct val="100000"/>
              </a:lnSpc>
              <a:spcAft>
                <a:spcPts val="601"/>
              </a:spcAft>
              <a:buClr>
                <a:srgbClr val="475569"/>
              </a:buClr>
              <a:buFont typeface="Symbol" charset="2"/>
              <a:buChar char=""/>
            </a:pPr>
            <a:r>
              <a:rPr b="0" lang="en-US" sz="1200" spc="-1" strike="noStrike">
                <a:solidFill>
                  <a:srgbClr val="475569"/>
                </a:solidFill>
                <a:latin typeface="Calibri"/>
                <a:ea typeface="Calibri"/>
              </a:rPr>
              <a:t>Drag-and-drop on a 2D canvas</a:t>
            </a:r>
            <a:endParaRPr b="0" lang="en-US" sz="1200" spc="-1" strike="noStrike">
              <a:solidFill>
                <a:srgbClr val="000000"/>
              </a:solidFill>
              <a:latin typeface="Arial"/>
            </a:endParaRPr>
          </a:p>
          <a:p>
            <a:pPr marL="343080" indent="-343080" defTabSz="914400">
              <a:lnSpc>
                <a:spcPct val="100000"/>
              </a:lnSpc>
              <a:spcAft>
                <a:spcPts val="601"/>
              </a:spcAft>
              <a:buClr>
                <a:srgbClr val="475569"/>
              </a:buClr>
              <a:buFont typeface="Symbol" charset="2"/>
              <a:buChar char=""/>
            </a:pPr>
            <a:r>
              <a:rPr b="0" lang="en-US" sz="1200" spc="-1" strike="noStrike">
                <a:solidFill>
                  <a:srgbClr val="475569"/>
                </a:solidFill>
                <a:latin typeface="Calibri"/>
                <a:ea typeface="Calibri"/>
              </a:rPr>
              <a:t>Related words placed closer; unrelated words farther apart</a:t>
            </a:r>
            <a:endParaRPr b="0" lang="en-US" sz="1200" spc="-1" strike="noStrike">
              <a:solidFill>
                <a:srgbClr val="000000"/>
              </a:solidFill>
              <a:latin typeface="Arial"/>
            </a:endParaRPr>
          </a:p>
          <a:p>
            <a:pPr marL="343080" indent="-343080" defTabSz="914400">
              <a:lnSpc>
                <a:spcPct val="100000"/>
              </a:lnSpc>
              <a:buClr>
                <a:srgbClr val="475569"/>
              </a:buClr>
              <a:buFont typeface="Symbol" charset="2"/>
              <a:buChar char=""/>
            </a:pPr>
            <a:r>
              <a:rPr b="0" lang="en-US" sz="1200" spc="-1" strike="noStrike">
                <a:solidFill>
                  <a:srgbClr val="475569"/>
                </a:solidFill>
                <a:latin typeface="Calibri"/>
                <a:ea typeface="Calibri"/>
              </a:rPr>
              <a:t>Normalized (x, y) coordinates in range [0, 1]</a:t>
            </a:r>
            <a:endParaRPr b="0" lang="en-US" sz="1200" spc="-1" strike="noStrike">
              <a:solidFill>
                <a:srgbClr val="000000"/>
              </a:solidFill>
              <a:latin typeface="Arial"/>
            </a:endParaRPr>
          </a:p>
        </p:txBody>
      </p:sp>
      <p:pic>
        <p:nvPicPr>
          <p:cNvPr id="63" name="Image 3" descr="preencoded.png"/>
          <p:cNvPicPr/>
          <p:nvPr/>
        </p:nvPicPr>
        <p:blipFill>
          <a:blip r:embed="rId4"/>
          <a:stretch/>
        </p:blipFill>
        <p:spPr>
          <a:xfrm>
            <a:off x="4251960" y="2651760"/>
            <a:ext cx="364680" cy="3646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4" name="Shape 0"/>
          <p:cNvSpPr/>
          <p:nvPr/>
        </p:nvSpPr>
        <p:spPr>
          <a:xfrm>
            <a:off x="0" y="0"/>
            <a:ext cx="53640" cy="51426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5" name="Text 1"/>
          <p:cNvSpPr/>
          <p:nvPr/>
        </p:nvSpPr>
        <p:spPr>
          <a:xfrm>
            <a:off x="640080" y="274320"/>
            <a:ext cx="731412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a2744"/>
                </a:solidFill>
                <a:latin typeface="Georgia"/>
                <a:ea typeface="Georgia"/>
              </a:rPr>
              <a:t>Participant Data &amp; Descriptives</a:t>
            </a:r>
            <a:endParaRPr b="0" lang="en-US" sz="2800" spc="-1" strike="noStrike">
              <a:solidFill>
                <a:srgbClr val="000000"/>
              </a:solidFill>
              <a:latin typeface="Arial"/>
            </a:endParaRPr>
          </a:p>
        </p:txBody>
      </p:sp>
      <p:sp>
        <p:nvSpPr>
          <p:cNvPr id="66" name="Shape 2"/>
          <p:cNvSpPr/>
          <p:nvPr/>
        </p:nvSpPr>
        <p:spPr>
          <a:xfrm>
            <a:off x="640080" y="1051560"/>
            <a:ext cx="1827720" cy="1004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7" name="Text 3"/>
          <p:cNvSpPr/>
          <p:nvPr/>
        </p:nvSpPr>
        <p:spPr>
          <a:xfrm>
            <a:off x="640080" y="1097280"/>
            <a:ext cx="182772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0d9488"/>
                </a:solidFill>
                <a:latin typeface="Georgia"/>
                <a:ea typeface="Georgia"/>
              </a:rPr>
              <a:t>30</a:t>
            </a:r>
            <a:endParaRPr b="0" lang="en-US" sz="2600" spc="-1" strike="noStrike">
              <a:solidFill>
                <a:srgbClr val="000000"/>
              </a:solidFill>
              <a:latin typeface="Arial"/>
            </a:endParaRPr>
          </a:p>
        </p:txBody>
      </p:sp>
      <p:sp>
        <p:nvSpPr>
          <p:cNvPr id="68" name="Text 4"/>
          <p:cNvSpPr/>
          <p:nvPr/>
        </p:nvSpPr>
        <p:spPr>
          <a:xfrm>
            <a:off x="640080" y="1645920"/>
            <a:ext cx="18277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475569"/>
                </a:solidFill>
                <a:latin typeface="Calibri"/>
                <a:ea typeface="Calibri"/>
              </a:rPr>
              <a:t>Participants</a:t>
            </a:r>
            <a:endParaRPr b="0" lang="en-US" sz="1000" spc="-1" strike="noStrike">
              <a:solidFill>
                <a:srgbClr val="000000"/>
              </a:solidFill>
              <a:latin typeface="Arial"/>
            </a:endParaRPr>
          </a:p>
        </p:txBody>
      </p:sp>
      <p:sp>
        <p:nvSpPr>
          <p:cNvPr id="69" name="Shape 5"/>
          <p:cNvSpPr/>
          <p:nvPr/>
        </p:nvSpPr>
        <p:spPr>
          <a:xfrm>
            <a:off x="2743200" y="1051560"/>
            <a:ext cx="1827720" cy="1004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0" name="Text 6"/>
          <p:cNvSpPr/>
          <p:nvPr/>
        </p:nvSpPr>
        <p:spPr>
          <a:xfrm>
            <a:off x="2743200" y="1097280"/>
            <a:ext cx="182772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0d9488"/>
                </a:solidFill>
                <a:latin typeface="Georgia"/>
                <a:ea typeface="Georgia"/>
              </a:rPr>
              <a:t>8.56</a:t>
            </a:r>
            <a:endParaRPr b="0" lang="en-US" sz="2600" spc="-1" strike="noStrike">
              <a:solidFill>
                <a:srgbClr val="000000"/>
              </a:solidFill>
              <a:latin typeface="Arial"/>
            </a:endParaRPr>
          </a:p>
        </p:txBody>
      </p:sp>
      <p:sp>
        <p:nvSpPr>
          <p:cNvPr id="71" name="Text 7"/>
          <p:cNvSpPr/>
          <p:nvPr/>
        </p:nvSpPr>
        <p:spPr>
          <a:xfrm>
            <a:off x="2743200" y="1645920"/>
            <a:ext cx="18277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475569"/>
                </a:solidFill>
                <a:latin typeface="Calibri"/>
                <a:ea typeface="Calibri"/>
              </a:rPr>
              <a:t>Avg Words / Trial</a:t>
            </a:r>
            <a:endParaRPr b="0" lang="en-US" sz="1000" spc="-1" strike="noStrike">
              <a:solidFill>
                <a:srgbClr val="000000"/>
              </a:solidFill>
              <a:latin typeface="Arial"/>
            </a:endParaRPr>
          </a:p>
        </p:txBody>
      </p:sp>
      <p:sp>
        <p:nvSpPr>
          <p:cNvPr id="72" name="Shape 8"/>
          <p:cNvSpPr/>
          <p:nvPr/>
        </p:nvSpPr>
        <p:spPr>
          <a:xfrm>
            <a:off x="4846320" y="1051560"/>
            <a:ext cx="1827720" cy="1004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3" name="Text 9"/>
          <p:cNvSpPr/>
          <p:nvPr/>
        </p:nvSpPr>
        <p:spPr>
          <a:xfrm>
            <a:off x="4846320" y="1097280"/>
            <a:ext cx="182772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0d9488"/>
                </a:solidFill>
                <a:latin typeface="Georgia"/>
                <a:ea typeface="Georgia"/>
              </a:rPr>
              <a:t>7,866</a:t>
            </a:r>
            <a:endParaRPr b="0" lang="en-US" sz="2600" spc="-1" strike="noStrike">
              <a:solidFill>
                <a:srgbClr val="000000"/>
              </a:solidFill>
              <a:latin typeface="Arial"/>
            </a:endParaRPr>
          </a:p>
        </p:txBody>
      </p:sp>
      <p:sp>
        <p:nvSpPr>
          <p:cNvPr id="74" name="Text 10"/>
          <p:cNvSpPr/>
          <p:nvPr/>
        </p:nvSpPr>
        <p:spPr>
          <a:xfrm>
            <a:off x="4846320" y="1645920"/>
            <a:ext cx="18277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475569"/>
                </a:solidFill>
                <a:latin typeface="Calibri"/>
                <a:ea typeface="Calibri"/>
              </a:rPr>
              <a:t>Mean IRT (ms)</a:t>
            </a:r>
            <a:endParaRPr b="0" lang="en-US" sz="1000" spc="-1" strike="noStrike">
              <a:solidFill>
                <a:srgbClr val="000000"/>
              </a:solidFill>
              <a:latin typeface="Arial"/>
            </a:endParaRPr>
          </a:p>
        </p:txBody>
      </p:sp>
      <p:sp>
        <p:nvSpPr>
          <p:cNvPr id="75" name="Shape 11"/>
          <p:cNvSpPr/>
          <p:nvPr/>
        </p:nvSpPr>
        <p:spPr>
          <a:xfrm>
            <a:off x="6949440" y="1051560"/>
            <a:ext cx="1827720" cy="1004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6" name="Text 12"/>
          <p:cNvSpPr/>
          <p:nvPr/>
        </p:nvSpPr>
        <p:spPr>
          <a:xfrm>
            <a:off x="6949440" y="1097280"/>
            <a:ext cx="1827720" cy="547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600" spc="-1" strike="noStrike">
                <a:solidFill>
                  <a:srgbClr val="0d9488"/>
                </a:solidFill>
                <a:latin typeface="Georgia"/>
                <a:ea typeface="Georgia"/>
              </a:rPr>
              <a:t>4.52</a:t>
            </a:r>
            <a:endParaRPr b="0" lang="en-US" sz="2600" spc="-1" strike="noStrike">
              <a:solidFill>
                <a:srgbClr val="000000"/>
              </a:solidFill>
              <a:latin typeface="Arial"/>
            </a:endParaRPr>
          </a:p>
        </p:txBody>
      </p:sp>
      <p:sp>
        <p:nvSpPr>
          <p:cNvPr id="77" name="Text 13"/>
          <p:cNvSpPr/>
          <p:nvPr/>
        </p:nvSpPr>
        <p:spPr>
          <a:xfrm>
            <a:off x="6949440" y="1645920"/>
            <a:ext cx="18277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475569"/>
                </a:solidFill>
                <a:latin typeface="Calibri"/>
                <a:ea typeface="Calibri"/>
              </a:rPr>
              <a:t>Std Dev (Words)</a:t>
            </a:r>
            <a:endParaRPr b="0" lang="en-US" sz="1000" spc="-1" strike="noStrike">
              <a:solidFill>
                <a:srgbClr val="000000"/>
              </a:solidFill>
              <a:latin typeface="Arial"/>
            </a:endParaRPr>
          </a:p>
        </p:txBody>
      </p:sp>
      <p:sp>
        <p:nvSpPr>
          <p:cNvPr id="78" name="Shape 14"/>
          <p:cNvSpPr/>
          <p:nvPr/>
        </p:nvSpPr>
        <p:spPr>
          <a:xfrm>
            <a:off x="640080" y="2377440"/>
            <a:ext cx="3930840" cy="23763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9" name="Shape 15"/>
          <p:cNvSpPr/>
          <p:nvPr/>
        </p:nvSpPr>
        <p:spPr>
          <a:xfrm>
            <a:off x="640080" y="2377440"/>
            <a:ext cx="53640" cy="237636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0" name="Text 16"/>
          <p:cNvSpPr/>
          <p:nvPr/>
        </p:nvSpPr>
        <p:spPr>
          <a:xfrm>
            <a:off x="960120" y="2514600"/>
            <a:ext cx="3382200" cy="2102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spcAft>
                <a:spcPts val="799"/>
              </a:spcAft>
              <a:tabLst>
                <a:tab algn="l" pos="0"/>
              </a:tabLst>
            </a:pPr>
            <a:r>
              <a:rPr b="1" lang="en-US" sz="1400" spc="-1" strike="noStrike">
                <a:solidFill>
                  <a:srgbClr val="1e293b"/>
                </a:solidFill>
                <a:latin typeface="Georgia"/>
                <a:ea typeface="Georgia"/>
              </a:rPr>
              <a:t>Key Observations</a:t>
            </a:r>
            <a:endParaRPr b="0" lang="en-US" sz="1400" spc="-1" strike="noStrike">
              <a:solidFill>
                <a:srgbClr val="000000"/>
              </a:solidFill>
              <a:latin typeface="Arial"/>
            </a:endParaRPr>
          </a:p>
          <a:p>
            <a:pPr marL="343080" indent="-343080" defTabSz="914400">
              <a:lnSpc>
                <a:spcPct val="100000"/>
              </a:lnSpc>
              <a:spcAft>
                <a:spcPts val="601"/>
              </a:spcAft>
              <a:buClr>
                <a:srgbClr val="475569"/>
              </a:buClr>
              <a:buFont typeface="Symbol" charset="2"/>
              <a:buChar char=""/>
              <a:tabLst>
                <a:tab algn="l" pos="0"/>
              </a:tabLst>
            </a:pPr>
            <a:r>
              <a:rPr b="0" lang="en-US" sz="1100" spc="-1" strike="noStrike">
                <a:solidFill>
                  <a:srgbClr val="475569"/>
                </a:solidFill>
                <a:latin typeface="Calibri"/>
                <a:ea typeface="Calibri"/>
              </a:rPr>
              <a:t>High variability in word output (0 to 24 words) reflects diverse retrieval capacities across participants.</a:t>
            </a:r>
            <a:endParaRPr b="0" lang="en-US" sz="1100" spc="-1" strike="noStrike">
              <a:solidFill>
                <a:srgbClr val="000000"/>
              </a:solidFill>
              <a:latin typeface="Arial"/>
            </a:endParaRPr>
          </a:p>
          <a:p>
            <a:pPr marL="343080" indent="-343080" defTabSz="914400">
              <a:lnSpc>
                <a:spcPct val="100000"/>
              </a:lnSpc>
              <a:spcAft>
                <a:spcPts val="601"/>
              </a:spcAft>
              <a:buClr>
                <a:srgbClr val="475569"/>
              </a:buClr>
              <a:buFont typeface="Symbol" charset="2"/>
              <a:buChar char=""/>
              <a:tabLst>
                <a:tab algn="l" pos="0"/>
              </a:tabLst>
            </a:pPr>
            <a:r>
              <a:rPr b="0" lang="en-US" sz="1100" spc="-1" strike="noStrike">
                <a:solidFill>
                  <a:srgbClr val="475569"/>
                </a:solidFill>
                <a:latin typeface="Calibri"/>
                <a:ea typeface="Calibri"/>
              </a:rPr>
              <a:t>Mean IRT of ~7.9 seconds with SD of 5.4s indicates right-skewed response time data.</a:t>
            </a:r>
            <a:endParaRPr b="0" lang="en-US" sz="1100" spc="-1" strike="noStrike">
              <a:solidFill>
                <a:srgbClr val="000000"/>
              </a:solidFill>
              <a:latin typeface="Arial"/>
            </a:endParaRPr>
          </a:p>
          <a:p>
            <a:pPr marL="343080" indent="-343080" defTabSz="914400">
              <a:lnSpc>
                <a:spcPct val="100000"/>
              </a:lnSpc>
              <a:buClr>
                <a:srgbClr val="475569"/>
              </a:buClr>
              <a:buFont typeface="Symbol" charset="2"/>
              <a:buChar char=""/>
              <a:tabLst>
                <a:tab algn="l" pos="0"/>
              </a:tabLst>
            </a:pPr>
            <a:r>
              <a:rPr b="0" lang="en-US" sz="1100" spc="-1" strike="noStrike">
                <a:solidFill>
                  <a:srgbClr val="475569"/>
                </a:solidFill>
                <a:latin typeface="Calibri"/>
                <a:ea typeface="Calibri"/>
              </a:rPr>
              <a:t>Inclusion: comfortable reading and conversing in Hindi.</a:t>
            </a:r>
            <a:endParaRPr b="0" lang="en-US" sz="1100" spc="-1" strike="noStrike">
              <a:solidFill>
                <a:srgbClr val="000000"/>
              </a:solidFill>
              <a:latin typeface="Arial"/>
            </a:endParaRPr>
          </a:p>
        </p:txBody>
      </p:sp>
      <p:sp>
        <p:nvSpPr>
          <p:cNvPr id="81" name="Text 18"/>
          <p:cNvSpPr/>
          <p:nvPr/>
        </p:nvSpPr>
        <p:spPr>
          <a:xfrm>
            <a:off x="4937760" y="3017520"/>
            <a:ext cx="3747960" cy="456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0d9488"/>
                </a:solidFill>
                <a:latin typeface="Calibri"/>
                <a:ea typeface="Calibri"/>
              </a:rPr>
              <a:t>📊  </a:t>
            </a:r>
            <a:r>
              <a:rPr b="1" lang="en-US" sz="1400" spc="-1" strike="noStrike">
                <a:solidFill>
                  <a:srgbClr val="0d9488"/>
                </a:solidFill>
                <a:latin typeface="Calibri"/>
                <a:ea typeface="Calibri"/>
              </a:rPr>
              <a:t>Place Figure 1 here</a:t>
            </a:r>
            <a:endParaRPr b="0" lang="en-US" sz="1400" spc="-1" strike="noStrike">
              <a:solidFill>
                <a:srgbClr val="000000"/>
              </a:solidFill>
              <a:latin typeface="Arial"/>
            </a:endParaRPr>
          </a:p>
        </p:txBody>
      </p:sp>
      <p:sp>
        <p:nvSpPr>
          <p:cNvPr id="82" name="Text 19"/>
          <p:cNvSpPr/>
          <p:nvPr/>
        </p:nvSpPr>
        <p:spPr>
          <a:xfrm>
            <a:off x="5120640" y="3474720"/>
            <a:ext cx="3382200" cy="364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i="1" lang="en-US" sz="1000" spc="-1" strike="noStrike">
                <a:solidFill>
                  <a:srgbClr val="475569"/>
                </a:solidFill>
                <a:latin typeface="Calibri"/>
                <a:ea typeface="Calibri"/>
              </a:rPr>
              <a:t>Distribution of Total Words Generated (VFT)</a:t>
            </a:r>
            <a:endParaRPr b="0" lang="en-US" sz="1000" spc="-1" strike="noStrike">
              <a:solidFill>
                <a:srgbClr val="000000"/>
              </a:solidFill>
              <a:latin typeface="Arial"/>
            </a:endParaRPr>
          </a:p>
        </p:txBody>
      </p:sp>
      <p:pic>
        <p:nvPicPr>
          <p:cNvPr id="83" name="" descr=""/>
          <p:cNvPicPr/>
          <p:nvPr/>
        </p:nvPicPr>
        <p:blipFill>
          <a:blip r:embed="rId1"/>
          <a:stretch/>
        </p:blipFill>
        <p:spPr>
          <a:xfrm>
            <a:off x="4836600" y="2358000"/>
            <a:ext cx="3885840" cy="24062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84" name="Shape 0"/>
          <p:cNvSpPr/>
          <p:nvPr/>
        </p:nvSpPr>
        <p:spPr>
          <a:xfrm>
            <a:off x="0" y="0"/>
            <a:ext cx="53640" cy="51426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85" name="Text 1"/>
          <p:cNvSpPr/>
          <p:nvPr/>
        </p:nvSpPr>
        <p:spPr>
          <a:xfrm>
            <a:off x="640080" y="274320"/>
            <a:ext cx="731412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a2744"/>
                </a:solidFill>
                <a:latin typeface="Georgia"/>
                <a:ea typeface="Georgia"/>
              </a:rPr>
              <a:t>The Cognitive Cost of Retrieval</a:t>
            </a:r>
            <a:endParaRPr b="0" lang="en-US" sz="2800" spc="-1" strike="noStrike">
              <a:solidFill>
                <a:srgbClr val="000000"/>
              </a:solidFill>
              <a:latin typeface="Arial"/>
            </a:endParaRPr>
          </a:p>
        </p:txBody>
      </p:sp>
      <p:sp>
        <p:nvSpPr>
          <p:cNvPr id="86" name="Text 2"/>
          <p:cNvSpPr/>
          <p:nvPr/>
        </p:nvSpPr>
        <p:spPr>
          <a:xfrm>
            <a:off x="640080" y="822960"/>
            <a:ext cx="54853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0d9488"/>
                </a:solidFill>
                <a:latin typeface="Calibri"/>
                <a:ea typeface="Calibri"/>
              </a:rPr>
              <a:t>Why later words take longer</a:t>
            </a:r>
            <a:endParaRPr b="0" lang="en-US" sz="1300" spc="-1" strike="noStrike">
              <a:solidFill>
                <a:srgbClr val="000000"/>
              </a:solidFill>
              <a:latin typeface="Arial"/>
            </a:endParaRPr>
          </a:p>
        </p:txBody>
      </p:sp>
      <p:sp>
        <p:nvSpPr>
          <p:cNvPr id="87" name="Shape 3"/>
          <p:cNvSpPr/>
          <p:nvPr/>
        </p:nvSpPr>
        <p:spPr>
          <a:xfrm>
            <a:off x="640080" y="1371600"/>
            <a:ext cx="3930840" cy="3290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8" name="Shape 4"/>
          <p:cNvSpPr/>
          <p:nvPr/>
        </p:nvSpPr>
        <p:spPr>
          <a:xfrm>
            <a:off x="640080" y="1371600"/>
            <a:ext cx="53640" cy="3290760"/>
          </a:xfrm>
          <a:prstGeom prst="rect">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9" name="Text 5"/>
          <p:cNvSpPr/>
          <p:nvPr/>
        </p:nvSpPr>
        <p:spPr>
          <a:xfrm>
            <a:off x="960120" y="1508760"/>
            <a:ext cx="3382200" cy="3016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spcAft>
                <a:spcPts val="799"/>
              </a:spcAft>
              <a:tabLst>
                <a:tab algn="l" pos="0"/>
              </a:tabLst>
            </a:pPr>
            <a:r>
              <a:rPr b="1" lang="en-US" sz="1500" spc="-1" strike="noStrike">
                <a:solidFill>
                  <a:srgbClr val="1e293b"/>
                </a:solidFill>
                <a:latin typeface="Georgia"/>
                <a:ea typeface="Georgia"/>
              </a:rPr>
              <a:t>Serial Position Effect</a:t>
            </a:r>
            <a:endParaRPr b="0" lang="en-US" sz="1500" spc="-1" strike="noStrike">
              <a:solidFill>
                <a:srgbClr val="000000"/>
              </a:solidFill>
              <a:latin typeface="Arial"/>
            </a:endParaRPr>
          </a:p>
          <a:p>
            <a:pPr defTabSz="914400">
              <a:lnSpc>
                <a:spcPct val="100000"/>
              </a:lnSpc>
              <a:spcAft>
                <a:spcPts val="1001"/>
              </a:spcAft>
              <a:tabLst>
                <a:tab algn="l" pos="0"/>
              </a:tabLst>
            </a:pPr>
            <a:r>
              <a:rPr b="0" lang="en-US" sz="1200" spc="-1" strike="noStrike">
                <a:solidFill>
                  <a:srgbClr val="475569"/>
                </a:solidFill>
                <a:latin typeface="Calibri"/>
                <a:ea typeface="Calibri"/>
              </a:rPr>
              <a:t>Early words (positions 1–5) are retrieved rapidly from high-activation regions of the mental lexicon.</a:t>
            </a:r>
            <a:endParaRPr b="0" lang="en-US" sz="1200" spc="-1" strike="noStrike">
              <a:solidFill>
                <a:srgbClr val="000000"/>
              </a:solidFill>
              <a:latin typeface="Arial"/>
            </a:endParaRPr>
          </a:p>
          <a:p>
            <a:pPr defTabSz="914400">
              <a:lnSpc>
                <a:spcPct val="100000"/>
              </a:lnSpc>
              <a:spcAft>
                <a:spcPts val="1001"/>
              </a:spcAft>
              <a:tabLst>
                <a:tab algn="l" pos="0"/>
              </a:tabLst>
            </a:pPr>
            <a:r>
              <a:rPr b="0" lang="en-US" sz="1200" spc="-1" strike="noStrike">
                <a:solidFill>
                  <a:srgbClr val="475569"/>
                </a:solidFill>
                <a:latin typeface="Calibri"/>
                <a:ea typeface="Calibri"/>
              </a:rPr>
              <a:t>As easily accessible words are exhausted, participants must search deeper — inter-response times increase steadily.</a:t>
            </a:r>
            <a:endParaRPr b="0" lang="en-US" sz="1200" spc="-1" strike="noStrike">
              <a:solidFill>
                <a:srgbClr val="000000"/>
              </a:solidFill>
              <a:latin typeface="Arial"/>
            </a:endParaRPr>
          </a:p>
          <a:p>
            <a:pPr defTabSz="914400">
              <a:lnSpc>
                <a:spcPct val="100000"/>
              </a:lnSpc>
              <a:tabLst>
                <a:tab algn="l" pos="0"/>
              </a:tabLst>
            </a:pPr>
            <a:r>
              <a:rPr b="0" lang="en-US" sz="1200" spc="-1" strike="noStrike">
                <a:solidFill>
                  <a:srgbClr val="475569"/>
                </a:solidFill>
                <a:latin typeface="Calibri"/>
                <a:ea typeface="Calibri"/>
              </a:rPr>
              <a:t>The upward IRT trend aligns with models of spreading activation: nearby nodes fire first, then the search expands to increasingly remote connections.</a:t>
            </a:r>
            <a:endParaRPr b="0" lang="en-US" sz="1200" spc="-1" strike="noStrike">
              <a:solidFill>
                <a:srgbClr val="000000"/>
              </a:solidFill>
              <a:latin typeface="Arial"/>
            </a:endParaRPr>
          </a:p>
        </p:txBody>
      </p:sp>
      <p:pic>
        <p:nvPicPr>
          <p:cNvPr id="90" name="" descr=""/>
          <p:cNvPicPr/>
          <p:nvPr/>
        </p:nvPicPr>
        <p:blipFill>
          <a:blip r:embed="rId1"/>
          <a:stretch/>
        </p:blipFill>
        <p:spPr>
          <a:xfrm>
            <a:off x="4856760" y="1564200"/>
            <a:ext cx="4058280" cy="289584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2744"/>
        </a:solidFill>
      </p:bgPr>
    </p:bg>
    <p:spTree>
      <p:nvGrpSpPr>
        <p:cNvPr id="1" name=""/>
        <p:cNvGrpSpPr/>
        <p:nvPr/>
      </p:nvGrpSpPr>
      <p:grpSpPr>
        <a:xfrm>
          <a:off x="0" y="0"/>
          <a:ext cx="0" cy="0"/>
          <a:chOff x="0" y="0"/>
          <a:chExt cx="0" cy="0"/>
        </a:xfrm>
      </p:grpSpPr>
      <p:sp>
        <p:nvSpPr>
          <p:cNvPr id="91" name="Text 0"/>
          <p:cNvSpPr/>
          <p:nvPr/>
        </p:nvSpPr>
        <p:spPr>
          <a:xfrm>
            <a:off x="640080" y="228600"/>
            <a:ext cx="913320" cy="364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14b8a6"/>
                </a:solidFill>
                <a:latin typeface="Calibri"/>
                <a:ea typeface="Calibri"/>
              </a:rPr>
              <a:t>RQ1</a:t>
            </a:r>
            <a:endParaRPr b="0" lang="en-US" sz="1200" spc="-1" strike="noStrike">
              <a:solidFill>
                <a:srgbClr val="ffffff"/>
              </a:solidFill>
              <a:latin typeface="Arial"/>
            </a:endParaRPr>
          </a:p>
        </p:txBody>
      </p:sp>
      <p:sp>
        <p:nvSpPr>
          <p:cNvPr id="92" name="Text 1"/>
          <p:cNvSpPr/>
          <p:nvPr/>
        </p:nvSpPr>
        <p:spPr>
          <a:xfrm>
            <a:off x="640080" y="502920"/>
            <a:ext cx="7314120" cy="547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fffff"/>
                </a:solidFill>
                <a:latin typeface="Georgia"/>
                <a:ea typeface="Georgia"/>
              </a:rPr>
              <a:t>Do We Retrieve in Clusters?</a:t>
            </a:r>
            <a:endParaRPr b="0" lang="en-US" sz="2800" spc="-1" strike="noStrike">
              <a:solidFill>
                <a:srgbClr val="ffffff"/>
              </a:solidFill>
              <a:latin typeface="Arial"/>
            </a:endParaRPr>
          </a:p>
        </p:txBody>
      </p:sp>
      <p:sp>
        <p:nvSpPr>
          <p:cNvPr id="93" name="Shape 2"/>
          <p:cNvSpPr/>
          <p:nvPr/>
        </p:nvSpPr>
        <p:spPr>
          <a:xfrm>
            <a:off x="640080" y="1234440"/>
            <a:ext cx="2010600" cy="4104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4" name="Text 3"/>
          <p:cNvSpPr/>
          <p:nvPr/>
        </p:nvSpPr>
        <p:spPr>
          <a:xfrm>
            <a:off x="640080" y="1234440"/>
            <a:ext cx="201060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pc="-1" strike="noStrike">
                <a:solidFill>
                  <a:srgbClr val="ffffff"/>
                </a:solidFill>
                <a:latin typeface="Calibri"/>
                <a:ea typeface="Calibri"/>
              </a:rPr>
              <a:t>✓  </a:t>
            </a:r>
            <a:r>
              <a:rPr b="1" lang="en-US" sz="1300" spc="-1" strike="noStrike">
                <a:solidFill>
                  <a:srgbClr val="ffffff"/>
                </a:solidFill>
                <a:latin typeface="Calibri"/>
                <a:ea typeface="Calibri"/>
              </a:rPr>
              <a:t>YES — Confirmed</a:t>
            </a:r>
            <a:endParaRPr b="0" lang="en-US" sz="1300" spc="-1" strike="noStrike">
              <a:solidFill>
                <a:srgbClr val="ffffff"/>
              </a:solidFill>
              <a:latin typeface="Arial"/>
            </a:endParaRPr>
          </a:p>
        </p:txBody>
      </p:sp>
      <p:sp>
        <p:nvSpPr>
          <p:cNvPr id="95" name="Shape 4"/>
          <p:cNvSpPr/>
          <p:nvPr/>
        </p:nvSpPr>
        <p:spPr>
          <a:xfrm>
            <a:off x="640080" y="1920240"/>
            <a:ext cx="1827720" cy="86760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6" name="Text 5"/>
          <p:cNvSpPr/>
          <p:nvPr/>
        </p:nvSpPr>
        <p:spPr>
          <a:xfrm>
            <a:off x="640080" y="2011680"/>
            <a:ext cx="182772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eead4"/>
                </a:solidFill>
                <a:latin typeface="Georgia"/>
                <a:ea typeface="Georgia"/>
              </a:rPr>
              <a:t>0.257</a:t>
            </a:r>
            <a:endParaRPr b="0" lang="en-US" sz="1600" spc="-1" strike="noStrike">
              <a:solidFill>
                <a:srgbClr val="ffffff"/>
              </a:solidFill>
              <a:latin typeface="Arial"/>
            </a:endParaRPr>
          </a:p>
        </p:txBody>
      </p:sp>
      <p:sp>
        <p:nvSpPr>
          <p:cNvPr id="97" name="Text 6"/>
          <p:cNvSpPr/>
          <p:nvPr/>
        </p:nvSpPr>
        <p:spPr>
          <a:xfrm>
            <a:off x="640080" y="2423160"/>
            <a:ext cx="18277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94a3b8"/>
                </a:solidFill>
                <a:latin typeface="Calibri"/>
                <a:ea typeface="Calibri"/>
              </a:rPr>
              <a:t>Adjacent Mean Distance</a:t>
            </a:r>
            <a:endParaRPr b="0" lang="en-US" sz="900" spc="-1" strike="noStrike">
              <a:solidFill>
                <a:srgbClr val="ffffff"/>
              </a:solidFill>
              <a:latin typeface="Arial"/>
            </a:endParaRPr>
          </a:p>
        </p:txBody>
      </p:sp>
      <p:sp>
        <p:nvSpPr>
          <p:cNvPr id="98" name="Shape 7"/>
          <p:cNvSpPr/>
          <p:nvPr/>
        </p:nvSpPr>
        <p:spPr>
          <a:xfrm>
            <a:off x="2651760" y="1920240"/>
            <a:ext cx="1827720" cy="86760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99" name="Text 8"/>
          <p:cNvSpPr/>
          <p:nvPr/>
        </p:nvSpPr>
        <p:spPr>
          <a:xfrm>
            <a:off x="2651760" y="2011680"/>
            <a:ext cx="182772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eead4"/>
                </a:solidFill>
                <a:latin typeface="Georgia"/>
                <a:ea typeface="Georgia"/>
              </a:rPr>
              <a:t>0.373</a:t>
            </a:r>
            <a:endParaRPr b="0" lang="en-US" sz="1600" spc="-1" strike="noStrike">
              <a:solidFill>
                <a:srgbClr val="ffffff"/>
              </a:solidFill>
              <a:latin typeface="Arial"/>
            </a:endParaRPr>
          </a:p>
        </p:txBody>
      </p:sp>
      <p:sp>
        <p:nvSpPr>
          <p:cNvPr id="100" name="Text 9"/>
          <p:cNvSpPr/>
          <p:nvPr/>
        </p:nvSpPr>
        <p:spPr>
          <a:xfrm>
            <a:off x="2651760" y="2423160"/>
            <a:ext cx="18277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94a3b8"/>
                </a:solidFill>
                <a:latin typeface="Calibri"/>
                <a:ea typeface="Calibri"/>
              </a:rPr>
              <a:t>Random Mean Distance</a:t>
            </a:r>
            <a:endParaRPr b="0" lang="en-US" sz="900" spc="-1" strike="noStrike">
              <a:solidFill>
                <a:srgbClr val="ffffff"/>
              </a:solidFill>
              <a:latin typeface="Arial"/>
            </a:endParaRPr>
          </a:p>
        </p:txBody>
      </p:sp>
      <p:sp>
        <p:nvSpPr>
          <p:cNvPr id="101" name="Shape 10"/>
          <p:cNvSpPr/>
          <p:nvPr/>
        </p:nvSpPr>
        <p:spPr>
          <a:xfrm>
            <a:off x="640080" y="2971800"/>
            <a:ext cx="1827720" cy="86760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2" name="Text 11"/>
          <p:cNvSpPr/>
          <p:nvPr/>
        </p:nvSpPr>
        <p:spPr>
          <a:xfrm>
            <a:off x="640080" y="3063240"/>
            <a:ext cx="182772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eead4"/>
                </a:solidFill>
                <a:latin typeface="Georgia"/>
                <a:ea typeface="Georgia"/>
              </a:rPr>
              <a:t>T = −10.84 ***</a:t>
            </a:r>
            <a:br>
              <a:rPr sz="1600"/>
            </a:br>
            <a:r>
              <a:rPr b="1" lang="en-US" sz="1600" spc="-1" strike="noStrike">
                <a:solidFill>
                  <a:srgbClr val="5eead4"/>
                </a:solidFill>
                <a:latin typeface="Georgia"/>
                <a:ea typeface="Georgia"/>
              </a:rPr>
              <a:t>p &lt; 0.001</a:t>
            </a:r>
            <a:endParaRPr b="0" lang="en-US" sz="1600" spc="-1" strike="noStrike">
              <a:solidFill>
                <a:srgbClr val="ffffff"/>
              </a:solidFill>
              <a:latin typeface="Arial"/>
            </a:endParaRPr>
          </a:p>
        </p:txBody>
      </p:sp>
      <p:sp>
        <p:nvSpPr>
          <p:cNvPr id="103" name="Text 12"/>
          <p:cNvSpPr/>
          <p:nvPr/>
        </p:nvSpPr>
        <p:spPr>
          <a:xfrm>
            <a:off x="640080" y="3474720"/>
            <a:ext cx="18277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94a3b8"/>
                </a:solidFill>
                <a:latin typeface="Calibri"/>
                <a:ea typeface="Calibri"/>
              </a:rPr>
              <a:t>Welch t-test</a:t>
            </a:r>
            <a:endParaRPr b="0" lang="en-US" sz="900" spc="-1" strike="noStrike">
              <a:solidFill>
                <a:srgbClr val="ffffff"/>
              </a:solidFill>
              <a:latin typeface="Arial"/>
            </a:endParaRPr>
          </a:p>
        </p:txBody>
      </p:sp>
      <p:sp>
        <p:nvSpPr>
          <p:cNvPr id="104" name="Shape 13"/>
          <p:cNvSpPr/>
          <p:nvPr/>
        </p:nvSpPr>
        <p:spPr>
          <a:xfrm>
            <a:off x="2651760" y="2971800"/>
            <a:ext cx="1827720" cy="86760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05" name="Text 14"/>
          <p:cNvSpPr/>
          <p:nvPr/>
        </p:nvSpPr>
        <p:spPr>
          <a:xfrm>
            <a:off x="2651760" y="3063240"/>
            <a:ext cx="182772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600" spc="-1" strike="noStrike">
                <a:solidFill>
                  <a:srgbClr val="5eead4"/>
                </a:solidFill>
                <a:latin typeface="Georgia"/>
                <a:ea typeface="Georgia"/>
              </a:rPr>
              <a:t>U = 358,166</a:t>
            </a:r>
            <a:br>
              <a:rPr sz="1600"/>
            </a:br>
            <a:r>
              <a:rPr b="1" lang="en-US" sz="1600" spc="-1" strike="noStrike">
                <a:solidFill>
                  <a:srgbClr val="5eead4"/>
                </a:solidFill>
                <a:latin typeface="Georgia"/>
                <a:ea typeface="Georgia"/>
              </a:rPr>
              <a:t>p &lt; 0.001</a:t>
            </a:r>
            <a:endParaRPr b="0" lang="en-US" sz="1600" spc="-1" strike="noStrike">
              <a:solidFill>
                <a:srgbClr val="ffffff"/>
              </a:solidFill>
              <a:latin typeface="Arial"/>
            </a:endParaRPr>
          </a:p>
        </p:txBody>
      </p:sp>
      <p:sp>
        <p:nvSpPr>
          <p:cNvPr id="106" name="Text 15"/>
          <p:cNvSpPr/>
          <p:nvPr/>
        </p:nvSpPr>
        <p:spPr>
          <a:xfrm>
            <a:off x="2651760" y="3474720"/>
            <a:ext cx="18277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00" spc="-1" strike="noStrike">
                <a:solidFill>
                  <a:srgbClr val="94a3b8"/>
                </a:solidFill>
                <a:latin typeface="Calibri"/>
                <a:ea typeface="Calibri"/>
              </a:rPr>
              <a:t>Mann-Whitney U</a:t>
            </a:r>
            <a:endParaRPr b="0" lang="en-US" sz="900" spc="-1" strike="noStrike">
              <a:solidFill>
                <a:srgbClr val="ffffff"/>
              </a:solidFill>
              <a:latin typeface="Arial"/>
            </a:endParaRPr>
          </a:p>
        </p:txBody>
      </p:sp>
      <p:sp>
        <p:nvSpPr>
          <p:cNvPr id="107" name="Text 16"/>
          <p:cNvSpPr/>
          <p:nvPr/>
        </p:nvSpPr>
        <p:spPr>
          <a:xfrm>
            <a:off x="640080" y="4114800"/>
            <a:ext cx="3839400" cy="730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i="1" lang="en-US" sz="1100" spc="-1" strike="noStrike">
                <a:solidFill>
                  <a:srgbClr val="94a3b8"/>
                </a:solidFill>
                <a:latin typeface="Calibri"/>
                <a:ea typeface="Calibri"/>
              </a:rPr>
              <a:t>Sequential retrievals are significantly closer in semantic space than randomly sampled word pairs, providing strong evidence for clustered retrieval in Hindi speakers.</a:t>
            </a:r>
            <a:endParaRPr b="0" lang="en-US" sz="1100" spc="-1" strike="noStrike">
              <a:solidFill>
                <a:srgbClr val="ffffff"/>
              </a:solidFill>
              <a:latin typeface="Arial"/>
            </a:endParaRPr>
          </a:p>
        </p:txBody>
      </p:sp>
      <p:pic>
        <p:nvPicPr>
          <p:cNvPr id="108" name="" descr=""/>
          <p:cNvPicPr/>
          <p:nvPr/>
        </p:nvPicPr>
        <p:blipFill>
          <a:blip r:embed="rId1"/>
          <a:stretch/>
        </p:blipFill>
        <p:spPr>
          <a:xfrm>
            <a:off x="4800600" y="1179000"/>
            <a:ext cx="3993840" cy="31111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09" name="Shape 0"/>
          <p:cNvSpPr/>
          <p:nvPr/>
        </p:nvSpPr>
        <p:spPr>
          <a:xfrm>
            <a:off x="0" y="0"/>
            <a:ext cx="53640" cy="51426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0" name="Text 1"/>
          <p:cNvSpPr/>
          <p:nvPr/>
        </p:nvSpPr>
        <p:spPr>
          <a:xfrm>
            <a:off x="640080" y="228600"/>
            <a:ext cx="9133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0d9488"/>
                </a:solidFill>
                <a:latin typeface="Calibri"/>
                <a:ea typeface="Calibri"/>
              </a:rPr>
              <a:t>RQ2</a:t>
            </a:r>
            <a:endParaRPr b="0" lang="en-US" sz="1200" spc="-1" strike="noStrike">
              <a:solidFill>
                <a:srgbClr val="000000"/>
              </a:solidFill>
              <a:latin typeface="Arial"/>
            </a:endParaRPr>
          </a:p>
        </p:txBody>
      </p:sp>
      <p:sp>
        <p:nvSpPr>
          <p:cNvPr id="111" name="Text 2"/>
          <p:cNvSpPr/>
          <p:nvPr/>
        </p:nvSpPr>
        <p:spPr>
          <a:xfrm>
            <a:off x="640080" y="457200"/>
            <a:ext cx="7314120" cy="547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a2744"/>
                </a:solidFill>
                <a:latin typeface="Georgia"/>
                <a:ea typeface="Georgia"/>
              </a:rPr>
              <a:t>Does Density Equal Speed?</a:t>
            </a:r>
            <a:endParaRPr b="0" lang="en-US" sz="2800" spc="-1" strike="noStrike">
              <a:solidFill>
                <a:srgbClr val="000000"/>
              </a:solidFill>
              <a:latin typeface="Arial"/>
            </a:endParaRPr>
          </a:p>
        </p:txBody>
      </p:sp>
      <p:sp>
        <p:nvSpPr>
          <p:cNvPr id="112" name="Shape 3"/>
          <p:cNvSpPr/>
          <p:nvPr/>
        </p:nvSpPr>
        <p:spPr>
          <a:xfrm>
            <a:off x="640080" y="1143000"/>
            <a:ext cx="2010600" cy="4104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13" name="Text 4"/>
          <p:cNvSpPr/>
          <p:nvPr/>
        </p:nvSpPr>
        <p:spPr>
          <a:xfrm>
            <a:off x="640080" y="1143000"/>
            <a:ext cx="201060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pc="-1" strike="noStrike">
                <a:solidFill>
                  <a:srgbClr val="ffffff"/>
                </a:solidFill>
                <a:latin typeface="Calibri"/>
                <a:ea typeface="Calibri"/>
              </a:rPr>
              <a:t>✓  </a:t>
            </a:r>
            <a:r>
              <a:rPr b="1" lang="en-US" sz="1300" spc="-1" strike="noStrike">
                <a:solidFill>
                  <a:srgbClr val="ffffff"/>
                </a:solidFill>
                <a:latin typeface="Calibri"/>
                <a:ea typeface="Calibri"/>
              </a:rPr>
              <a:t>YES — Confirmed</a:t>
            </a:r>
            <a:endParaRPr b="0" lang="en-US" sz="1300" spc="-1" strike="noStrike">
              <a:solidFill>
                <a:srgbClr val="000000"/>
              </a:solidFill>
              <a:latin typeface="Arial"/>
            </a:endParaRPr>
          </a:p>
        </p:txBody>
      </p:sp>
      <p:sp>
        <p:nvSpPr>
          <p:cNvPr id="114" name="Shape 5"/>
          <p:cNvSpPr/>
          <p:nvPr/>
        </p:nvSpPr>
        <p:spPr>
          <a:xfrm>
            <a:off x="2926080" y="1143000"/>
            <a:ext cx="3199320" cy="41040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5" name="Text 6"/>
          <p:cNvSpPr/>
          <p:nvPr/>
        </p:nvSpPr>
        <p:spPr>
          <a:xfrm>
            <a:off x="2926080" y="1143000"/>
            <a:ext cx="319932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500" spc="-1" strike="noStrike">
                <a:solidFill>
                  <a:srgbClr val="0d9488"/>
                </a:solidFill>
                <a:latin typeface="Georgia"/>
                <a:ea typeface="Georgia"/>
              </a:rPr>
              <a:t>r = -0.201,  p &lt; 0.001</a:t>
            </a:r>
            <a:endParaRPr b="0" lang="en-US" sz="1500" spc="-1" strike="noStrike">
              <a:solidFill>
                <a:srgbClr val="000000"/>
              </a:solidFill>
              <a:latin typeface="Arial"/>
            </a:endParaRPr>
          </a:p>
        </p:txBody>
      </p:sp>
      <p:sp>
        <p:nvSpPr>
          <p:cNvPr id="116" name="Shape 7"/>
          <p:cNvSpPr/>
          <p:nvPr/>
        </p:nvSpPr>
        <p:spPr>
          <a:xfrm>
            <a:off x="640080" y="1783080"/>
            <a:ext cx="7862760" cy="63900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7" name="Text 8"/>
          <p:cNvSpPr/>
          <p:nvPr/>
        </p:nvSpPr>
        <p:spPr>
          <a:xfrm>
            <a:off x="822960" y="1783080"/>
            <a:ext cx="7497000" cy="639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pc="-1" strike="noStrike">
                <a:solidFill>
                  <a:srgbClr val="475569"/>
                </a:solidFill>
                <a:latin typeface="Calibri"/>
                <a:ea typeface="Calibri"/>
              </a:rPr>
              <a:t>Words in tighter semantic neighbourhoods are retrieved faster, supporting a spreading-activation account of lexical retrieval. Log-transformed IRT correlated negatively with mean neighbour distance.</a:t>
            </a:r>
            <a:endParaRPr b="0" lang="en-US" sz="1200" spc="-1" strike="noStrike">
              <a:solidFill>
                <a:srgbClr val="000000"/>
              </a:solidFill>
              <a:latin typeface="Arial"/>
            </a:endParaRPr>
          </a:p>
        </p:txBody>
      </p:sp>
      <p:pic>
        <p:nvPicPr>
          <p:cNvPr id="118" name="" descr=""/>
          <p:cNvPicPr/>
          <p:nvPr/>
        </p:nvPicPr>
        <p:blipFill>
          <a:blip r:embed="rId1"/>
          <a:stretch/>
        </p:blipFill>
        <p:spPr>
          <a:xfrm>
            <a:off x="646560" y="2527200"/>
            <a:ext cx="3143880" cy="2325600"/>
          </a:xfrm>
          <a:prstGeom prst="rect">
            <a:avLst/>
          </a:prstGeom>
          <a:ln w="0">
            <a:noFill/>
          </a:ln>
        </p:spPr>
      </p:pic>
      <p:pic>
        <p:nvPicPr>
          <p:cNvPr id="119" name="" descr=""/>
          <p:cNvPicPr/>
          <p:nvPr/>
        </p:nvPicPr>
        <p:blipFill>
          <a:blip r:embed="rId2"/>
          <a:stretch/>
        </p:blipFill>
        <p:spPr>
          <a:xfrm>
            <a:off x="5065200" y="2511720"/>
            <a:ext cx="3428640" cy="23266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2744"/>
        </a:solidFill>
      </p:bgPr>
    </p:bg>
    <p:spTree>
      <p:nvGrpSpPr>
        <p:cNvPr id="1" name=""/>
        <p:cNvGrpSpPr/>
        <p:nvPr/>
      </p:nvGrpSpPr>
      <p:grpSpPr>
        <a:xfrm>
          <a:off x="0" y="0"/>
          <a:ext cx="0" cy="0"/>
          <a:chOff x="0" y="0"/>
          <a:chExt cx="0" cy="0"/>
        </a:xfrm>
      </p:grpSpPr>
      <p:sp>
        <p:nvSpPr>
          <p:cNvPr id="120" name="Text 0"/>
          <p:cNvSpPr/>
          <p:nvPr/>
        </p:nvSpPr>
        <p:spPr>
          <a:xfrm>
            <a:off x="640080" y="228600"/>
            <a:ext cx="9133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pc="-1" strike="noStrike">
                <a:solidFill>
                  <a:srgbClr val="14b8a6"/>
                </a:solidFill>
                <a:latin typeface="Calibri"/>
                <a:ea typeface="Calibri"/>
              </a:rPr>
              <a:t>RQ3</a:t>
            </a:r>
            <a:endParaRPr b="0" lang="en-US" sz="1200" spc="-1" strike="noStrike">
              <a:solidFill>
                <a:srgbClr val="ffffff"/>
              </a:solidFill>
              <a:latin typeface="Arial"/>
            </a:endParaRPr>
          </a:p>
        </p:txBody>
      </p:sp>
      <p:sp>
        <p:nvSpPr>
          <p:cNvPr id="121" name="Text 1"/>
          <p:cNvSpPr/>
          <p:nvPr/>
        </p:nvSpPr>
        <p:spPr>
          <a:xfrm>
            <a:off x="640080" y="502920"/>
            <a:ext cx="7314120" cy="547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fffff"/>
                </a:solidFill>
                <a:latin typeface="Georgia"/>
                <a:ea typeface="Georgia"/>
              </a:rPr>
              <a:t>Does Fluency Predict Efficiency?</a:t>
            </a:r>
            <a:endParaRPr b="0" lang="en-US" sz="2800" spc="-1" strike="noStrike">
              <a:solidFill>
                <a:srgbClr val="ffffff"/>
              </a:solidFill>
              <a:latin typeface="Arial"/>
            </a:endParaRPr>
          </a:p>
        </p:txBody>
      </p:sp>
      <p:sp>
        <p:nvSpPr>
          <p:cNvPr id="122" name="Shape 2"/>
          <p:cNvSpPr/>
          <p:nvPr/>
        </p:nvSpPr>
        <p:spPr>
          <a:xfrm>
            <a:off x="640080" y="1234440"/>
            <a:ext cx="2742120" cy="410400"/>
          </a:xfrm>
          <a:prstGeom prst="rect">
            <a:avLst/>
          </a:prstGeom>
          <a:solidFill>
            <a:srgbClr val="f9706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3" name="Text 3"/>
          <p:cNvSpPr/>
          <p:nvPr/>
        </p:nvSpPr>
        <p:spPr>
          <a:xfrm>
            <a:off x="640080" y="1234440"/>
            <a:ext cx="2742120" cy="410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300" spc="-1" strike="noStrike">
                <a:solidFill>
                  <a:srgbClr val="ffffff"/>
                </a:solidFill>
                <a:latin typeface="Calibri"/>
                <a:ea typeface="Calibri"/>
              </a:rPr>
              <a:t>✗  </a:t>
            </a:r>
            <a:r>
              <a:rPr b="1" lang="en-US" sz="1300" spc="-1" strike="noStrike">
                <a:solidFill>
                  <a:srgbClr val="ffffff"/>
                </a:solidFill>
                <a:latin typeface="Calibri"/>
                <a:ea typeface="Calibri"/>
              </a:rPr>
              <a:t>NOT SUPPORTED</a:t>
            </a:r>
            <a:endParaRPr b="0" lang="en-US" sz="1300" spc="-1" strike="noStrike">
              <a:solidFill>
                <a:srgbClr val="ffffff"/>
              </a:solidFill>
              <a:latin typeface="Arial"/>
            </a:endParaRPr>
          </a:p>
        </p:txBody>
      </p:sp>
      <p:sp>
        <p:nvSpPr>
          <p:cNvPr id="124" name="Shape 4"/>
          <p:cNvSpPr/>
          <p:nvPr/>
        </p:nvSpPr>
        <p:spPr>
          <a:xfrm>
            <a:off x="640080" y="2011680"/>
            <a:ext cx="2513520" cy="137052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5" name="Text 5"/>
          <p:cNvSpPr/>
          <p:nvPr/>
        </p:nvSpPr>
        <p:spPr>
          <a:xfrm>
            <a:off x="640080" y="2148840"/>
            <a:ext cx="2513520" cy="456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f97066"/>
                </a:solidFill>
                <a:latin typeface="Georgia"/>
                <a:ea typeface="Georgia"/>
              </a:rPr>
              <a:t>r = −0.115</a:t>
            </a:r>
            <a:endParaRPr b="0" lang="en-US" sz="2000" spc="-1" strike="noStrike">
              <a:solidFill>
                <a:srgbClr val="ffffff"/>
              </a:solidFill>
              <a:latin typeface="Arial"/>
            </a:endParaRPr>
          </a:p>
        </p:txBody>
      </p:sp>
      <p:sp>
        <p:nvSpPr>
          <p:cNvPr id="126" name="Text 6"/>
          <p:cNvSpPr/>
          <p:nvPr/>
        </p:nvSpPr>
        <p:spPr>
          <a:xfrm>
            <a:off x="640080" y="2606040"/>
            <a:ext cx="25135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200" spc="-1" strike="noStrike">
                <a:solidFill>
                  <a:srgbClr val="94a3b8"/>
                </a:solidFill>
                <a:latin typeface="Calibri"/>
                <a:ea typeface="Calibri"/>
              </a:rPr>
              <a:t>p = 0.509</a:t>
            </a:r>
            <a:endParaRPr b="0" lang="en-US" sz="1200" spc="-1" strike="noStrike">
              <a:solidFill>
                <a:srgbClr val="ffffff"/>
              </a:solidFill>
              <a:latin typeface="Arial"/>
            </a:endParaRPr>
          </a:p>
        </p:txBody>
      </p:sp>
      <p:sp>
        <p:nvSpPr>
          <p:cNvPr id="127" name="Text 7"/>
          <p:cNvSpPr/>
          <p:nvPr/>
        </p:nvSpPr>
        <p:spPr>
          <a:xfrm>
            <a:off x="640080" y="2926080"/>
            <a:ext cx="25135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94a3b8"/>
                </a:solidFill>
                <a:latin typeface="Calibri"/>
                <a:ea typeface="Calibri"/>
              </a:rPr>
              <a:t>Fluency vs Total Words</a:t>
            </a:r>
            <a:endParaRPr b="0" lang="en-US" sz="1000" spc="-1" strike="noStrike">
              <a:solidFill>
                <a:srgbClr val="ffffff"/>
              </a:solidFill>
              <a:latin typeface="Arial"/>
            </a:endParaRPr>
          </a:p>
        </p:txBody>
      </p:sp>
      <p:sp>
        <p:nvSpPr>
          <p:cNvPr id="128" name="Shape 8"/>
          <p:cNvSpPr/>
          <p:nvPr/>
        </p:nvSpPr>
        <p:spPr>
          <a:xfrm>
            <a:off x="3429000" y="2011680"/>
            <a:ext cx="2513520" cy="137052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29" name="Text 9"/>
          <p:cNvSpPr/>
          <p:nvPr/>
        </p:nvSpPr>
        <p:spPr>
          <a:xfrm>
            <a:off x="3429000" y="2148840"/>
            <a:ext cx="2513520" cy="456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f97066"/>
                </a:solidFill>
                <a:latin typeface="Georgia"/>
                <a:ea typeface="Georgia"/>
              </a:rPr>
              <a:t>r = 0.199</a:t>
            </a:r>
            <a:endParaRPr b="0" lang="en-US" sz="2000" spc="-1" strike="noStrike">
              <a:solidFill>
                <a:srgbClr val="ffffff"/>
              </a:solidFill>
              <a:latin typeface="Arial"/>
            </a:endParaRPr>
          </a:p>
        </p:txBody>
      </p:sp>
      <p:sp>
        <p:nvSpPr>
          <p:cNvPr id="130" name="Text 10"/>
          <p:cNvSpPr/>
          <p:nvPr/>
        </p:nvSpPr>
        <p:spPr>
          <a:xfrm>
            <a:off x="3429000" y="2606040"/>
            <a:ext cx="25135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200" spc="-1" strike="noStrike">
                <a:solidFill>
                  <a:srgbClr val="94a3b8"/>
                </a:solidFill>
                <a:latin typeface="Calibri"/>
                <a:ea typeface="Calibri"/>
              </a:rPr>
              <a:t>p = 0.251</a:t>
            </a:r>
            <a:endParaRPr b="0" lang="en-US" sz="1200" spc="-1" strike="noStrike">
              <a:solidFill>
                <a:srgbClr val="ffffff"/>
              </a:solidFill>
              <a:latin typeface="Arial"/>
            </a:endParaRPr>
          </a:p>
        </p:txBody>
      </p:sp>
      <p:sp>
        <p:nvSpPr>
          <p:cNvPr id="131" name="Text 11"/>
          <p:cNvSpPr/>
          <p:nvPr/>
        </p:nvSpPr>
        <p:spPr>
          <a:xfrm>
            <a:off x="3429000" y="2926080"/>
            <a:ext cx="25135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94a3b8"/>
                </a:solidFill>
                <a:latin typeface="Calibri"/>
                <a:ea typeface="Calibri"/>
              </a:rPr>
              <a:t>Fluency vs Mean IRT</a:t>
            </a:r>
            <a:endParaRPr b="0" lang="en-US" sz="1000" spc="-1" strike="noStrike">
              <a:solidFill>
                <a:srgbClr val="ffffff"/>
              </a:solidFill>
              <a:latin typeface="Arial"/>
            </a:endParaRPr>
          </a:p>
        </p:txBody>
      </p:sp>
      <p:sp>
        <p:nvSpPr>
          <p:cNvPr id="132" name="Shape 12"/>
          <p:cNvSpPr/>
          <p:nvPr/>
        </p:nvSpPr>
        <p:spPr>
          <a:xfrm>
            <a:off x="6217920" y="2011680"/>
            <a:ext cx="2513520" cy="137052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3" name="Text 13"/>
          <p:cNvSpPr/>
          <p:nvPr/>
        </p:nvSpPr>
        <p:spPr>
          <a:xfrm>
            <a:off x="6217920" y="2148840"/>
            <a:ext cx="2513520" cy="456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000" spc="-1" strike="noStrike">
                <a:solidFill>
                  <a:srgbClr val="f97066"/>
                </a:solidFill>
                <a:latin typeface="Georgia"/>
                <a:ea typeface="Georgia"/>
              </a:rPr>
              <a:t>r = −0.180</a:t>
            </a:r>
            <a:endParaRPr b="0" lang="en-US" sz="2000" spc="-1" strike="noStrike">
              <a:solidFill>
                <a:srgbClr val="ffffff"/>
              </a:solidFill>
              <a:latin typeface="Arial"/>
            </a:endParaRPr>
          </a:p>
        </p:txBody>
      </p:sp>
      <p:sp>
        <p:nvSpPr>
          <p:cNvPr id="134" name="Text 14"/>
          <p:cNvSpPr/>
          <p:nvPr/>
        </p:nvSpPr>
        <p:spPr>
          <a:xfrm>
            <a:off x="6217920" y="2606040"/>
            <a:ext cx="251352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200" spc="-1" strike="noStrike">
                <a:solidFill>
                  <a:srgbClr val="94a3b8"/>
                </a:solidFill>
                <a:latin typeface="Calibri"/>
                <a:ea typeface="Calibri"/>
              </a:rPr>
              <a:t>p = 0.316</a:t>
            </a:r>
            <a:endParaRPr b="0" lang="en-US" sz="1200" spc="-1" strike="noStrike">
              <a:solidFill>
                <a:srgbClr val="ffffff"/>
              </a:solidFill>
              <a:latin typeface="Arial"/>
            </a:endParaRPr>
          </a:p>
        </p:txBody>
      </p:sp>
      <p:sp>
        <p:nvSpPr>
          <p:cNvPr id="135" name="Text 15"/>
          <p:cNvSpPr/>
          <p:nvPr/>
        </p:nvSpPr>
        <p:spPr>
          <a:xfrm>
            <a:off x="6217920" y="2926080"/>
            <a:ext cx="2513520" cy="318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94a3b8"/>
                </a:solidFill>
                <a:latin typeface="Calibri"/>
                <a:ea typeface="Calibri"/>
              </a:rPr>
              <a:t>Fluency vs Cluster Size</a:t>
            </a:r>
            <a:endParaRPr b="0" lang="en-US" sz="1000" spc="-1" strike="noStrike">
              <a:solidFill>
                <a:srgbClr val="ffffff"/>
              </a:solidFill>
              <a:latin typeface="Arial"/>
            </a:endParaRPr>
          </a:p>
        </p:txBody>
      </p:sp>
      <p:sp>
        <p:nvSpPr>
          <p:cNvPr id="136" name="Shape 16"/>
          <p:cNvSpPr/>
          <p:nvPr/>
        </p:nvSpPr>
        <p:spPr>
          <a:xfrm>
            <a:off x="640080" y="3749040"/>
            <a:ext cx="7862760" cy="100476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7" name="Shape 17"/>
          <p:cNvSpPr/>
          <p:nvPr/>
        </p:nvSpPr>
        <p:spPr>
          <a:xfrm>
            <a:off x="640080" y="3749040"/>
            <a:ext cx="53640" cy="1004760"/>
          </a:xfrm>
          <a:prstGeom prst="rect">
            <a:avLst/>
          </a:prstGeom>
          <a:solidFill>
            <a:srgbClr val="f59e0b"/>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8" name="Text 18"/>
          <p:cNvSpPr/>
          <p:nvPr/>
        </p:nvSpPr>
        <p:spPr>
          <a:xfrm>
            <a:off x="914400" y="3840480"/>
            <a:ext cx="7405560" cy="821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f59e0b"/>
                </a:solidFill>
                <a:latin typeface="Calibri"/>
                <a:ea typeface="Calibri"/>
              </a:rPr>
              <a:t>Surprising Insight:  </a:t>
            </a:r>
            <a:r>
              <a:rPr b="0" lang="en-US" sz="1200" spc="-1" strike="noStrike">
                <a:solidFill>
                  <a:srgbClr val="94a3b8"/>
                </a:solidFill>
                <a:latin typeface="Calibri"/>
                <a:ea typeface="Calibri"/>
              </a:rPr>
              <a:t>Self-reported Hindi fluency did not significantly predict lexical retrieval efficiency, word output, or the capacity to sustain larger semantic clusters. This suggests that the relationship between perceived fluency and actual retrieval mechanisms is more nuanced than a simple linear model would predict.</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2744"/>
        </a:solidFill>
      </p:bgPr>
    </p:bg>
    <p:spTree>
      <p:nvGrpSpPr>
        <p:cNvPr id="1" name=""/>
        <p:cNvGrpSpPr/>
        <p:nvPr/>
      </p:nvGrpSpPr>
      <p:grpSpPr>
        <a:xfrm>
          <a:off x="0" y="0"/>
          <a:ext cx="0" cy="0"/>
          <a:chOff x="0" y="0"/>
          <a:chExt cx="0" cy="0"/>
        </a:xfrm>
      </p:grpSpPr>
      <p:pic>
        <p:nvPicPr>
          <p:cNvPr id="139" name="Image 0" descr="preencoded.png"/>
          <p:cNvPicPr/>
          <p:nvPr/>
        </p:nvPicPr>
        <p:blipFill>
          <a:blip r:embed="rId1"/>
          <a:stretch/>
        </p:blipFill>
        <p:spPr>
          <a:xfrm>
            <a:off x="640080" y="274320"/>
            <a:ext cx="456120" cy="456120"/>
          </a:xfrm>
          <a:prstGeom prst="rect">
            <a:avLst/>
          </a:prstGeom>
          <a:ln w="0">
            <a:noFill/>
          </a:ln>
        </p:spPr>
      </p:pic>
      <p:sp>
        <p:nvSpPr>
          <p:cNvPr id="140" name="Text 0"/>
          <p:cNvSpPr/>
          <p:nvPr/>
        </p:nvSpPr>
        <p:spPr>
          <a:xfrm>
            <a:off x="1234440" y="274320"/>
            <a:ext cx="6399720" cy="547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ffffff"/>
                </a:solidFill>
                <a:latin typeface="Georgia"/>
                <a:ea typeface="Georgia"/>
              </a:rPr>
              <a:t>Future Directions</a:t>
            </a:r>
            <a:endParaRPr b="0" lang="en-US" sz="2800" spc="-1" strike="noStrike">
              <a:solidFill>
                <a:srgbClr val="ffffff"/>
              </a:solidFill>
              <a:latin typeface="Arial"/>
            </a:endParaRPr>
          </a:p>
        </p:txBody>
      </p:sp>
      <p:sp>
        <p:nvSpPr>
          <p:cNvPr id="141" name="Text 1"/>
          <p:cNvSpPr/>
          <p:nvPr/>
        </p:nvSpPr>
        <p:spPr>
          <a:xfrm>
            <a:off x="1234440" y="777240"/>
            <a:ext cx="54853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5eead4"/>
                </a:solidFill>
                <a:latin typeface="Calibri"/>
                <a:ea typeface="Calibri"/>
              </a:rPr>
              <a:t>What comes next in Report 2</a:t>
            </a:r>
            <a:endParaRPr b="0" lang="en-US" sz="1300" spc="-1" strike="noStrike">
              <a:solidFill>
                <a:srgbClr val="ffffff"/>
              </a:solidFill>
              <a:latin typeface="Arial"/>
            </a:endParaRPr>
          </a:p>
        </p:txBody>
      </p:sp>
      <p:sp>
        <p:nvSpPr>
          <p:cNvPr id="142" name="Shape 2"/>
          <p:cNvSpPr/>
          <p:nvPr/>
        </p:nvSpPr>
        <p:spPr>
          <a:xfrm>
            <a:off x="640080" y="1371600"/>
            <a:ext cx="7862760" cy="73044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3" name="Shape 3"/>
          <p:cNvSpPr/>
          <p:nvPr/>
        </p:nvSpPr>
        <p:spPr>
          <a:xfrm>
            <a:off x="640080" y="1371600"/>
            <a:ext cx="53640" cy="73044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4" name="Text 4"/>
          <p:cNvSpPr/>
          <p:nvPr/>
        </p:nvSpPr>
        <p:spPr>
          <a:xfrm>
            <a:off x="914400" y="1371600"/>
            <a:ext cx="547560" cy="730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0d9488"/>
                </a:solidFill>
                <a:latin typeface="Georgia"/>
                <a:ea typeface="Georgia"/>
              </a:rPr>
              <a:t>01</a:t>
            </a:r>
            <a:endParaRPr b="0" lang="en-US" sz="2200" spc="-1" strike="noStrike">
              <a:solidFill>
                <a:srgbClr val="ffffff"/>
              </a:solidFill>
              <a:latin typeface="Arial"/>
            </a:endParaRPr>
          </a:p>
        </p:txBody>
      </p:sp>
      <p:sp>
        <p:nvSpPr>
          <p:cNvPr id="145" name="Text 5"/>
          <p:cNvSpPr/>
          <p:nvPr/>
        </p:nvSpPr>
        <p:spPr>
          <a:xfrm>
            <a:off x="1554480" y="144468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ffffff"/>
                </a:solidFill>
                <a:latin typeface="Georgia"/>
                <a:ea typeface="Georgia"/>
              </a:rPr>
              <a:t>Mixed-Effects Regression</a:t>
            </a:r>
            <a:endParaRPr b="0" lang="en-US" sz="1400" spc="-1" strike="noStrike">
              <a:solidFill>
                <a:srgbClr val="ffffff"/>
              </a:solidFill>
              <a:latin typeface="Arial"/>
            </a:endParaRPr>
          </a:p>
        </p:txBody>
      </p:sp>
      <p:sp>
        <p:nvSpPr>
          <p:cNvPr id="146" name="Text 6"/>
          <p:cNvSpPr/>
          <p:nvPr/>
        </p:nvSpPr>
        <p:spPr>
          <a:xfrm>
            <a:off x="1554480" y="173736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94a3b8"/>
                </a:solidFill>
                <a:latin typeface="Calibri"/>
                <a:ea typeface="Calibri"/>
              </a:rPr>
              <a:t>Log-transformed IRTs with random intercepts for subject-level variance to improve statistical robustness.</a:t>
            </a:r>
            <a:endParaRPr b="0" lang="en-US" sz="1100" spc="-1" strike="noStrike">
              <a:solidFill>
                <a:srgbClr val="ffffff"/>
              </a:solidFill>
              <a:latin typeface="Arial"/>
            </a:endParaRPr>
          </a:p>
        </p:txBody>
      </p:sp>
      <p:sp>
        <p:nvSpPr>
          <p:cNvPr id="147" name="Shape 7"/>
          <p:cNvSpPr/>
          <p:nvPr/>
        </p:nvSpPr>
        <p:spPr>
          <a:xfrm>
            <a:off x="640080" y="2240280"/>
            <a:ext cx="7862760" cy="73044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8" name="Shape 8"/>
          <p:cNvSpPr/>
          <p:nvPr/>
        </p:nvSpPr>
        <p:spPr>
          <a:xfrm>
            <a:off x="640080" y="2240280"/>
            <a:ext cx="53640" cy="73044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49" name="Text 9"/>
          <p:cNvSpPr/>
          <p:nvPr/>
        </p:nvSpPr>
        <p:spPr>
          <a:xfrm>
            <a:off x="914400" y="2240280"/>
            <a:ext cx="547560" cy="730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0d9488"/>
                </a:solidFill>
                <a:latin typeface="Georgia"/>
                <a:ea typeface="Georgia"/>
              </a:rPr>
              <a:t>02</a:t>
            </a:r>
            <a:endParaRPr b="0" lang="en-US" sz="2200" spc="-1" strike="noStrike">
              <a:solidFill>
                <a:srgbClr val="ffffff"/>
              </a:solidFill>
              <a:latin typeface="Arial"/>
            </a:endParaRPr>
          </a:p>
        </p:txBody>
      </p:sp>
      <p:sp>
        <p:nvSpPr>
          <p:cNvPr id="150" name="Text 10"/>
          <p:cNvSpPr/>
          <p:nvPr/>
        </p:nvSpPr>
        <p:spPr>
          <a:xfrm>
            <a:off x="1554480" y="231336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ffffff"/>
                </a:solidFill>
                <a:latin typeface="Georgia"/>
                <a:ea typeface="Georgia"/>
              </a:rPr>
              <a:t>Normalize SpAM Distances</a:t>
            </a:r>
            <a:endParaRPr b="0" lang="en-US" sz="1400" spc="-1" strike="noStrike">
              <a:solidFill>
                <a:srgbClr val="ffffff"/>
              </a:solidFill>
              <a:latin typeface="Arial"/>
            </a:endParaRPr>
          </a:p>
        </p:txBody>
      </p:sp>
      <p:sp>
        <p:nvSpPr>
          <p:cNvPr id="151" name="Text 11"/>
          <p:cNvSpPr/>
          <p:nvPr/>
        </p:nvSpPr>
        <p:spPr>
          <a:xfrm>
            <a:off x="1554480" y="260604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94a3b8"/>
                </a:solidFill>
                <a:latin typeface="Calibri"/>
                <a:ea typeface="Calibri"/>
              </a:rPr>
              <a:t>Within-participant and within-domain normalization to correct for individual canvas usage differences.</a:t>
            </a:r>
            <a:endParaRPr b="0" lang="en-US" sz="1100" spc="-1" strike="noStrike">
              <a:solidFill>
                <a:srgbClr val="ffffff"/>
              </a:solidFill>
              <a:latin typeface="Arial"/>
            </a:endParaRPr>
          </a:p>
        </p:txBody>
      </p:sp>
      <p:sp>
        <p:nvSpPr>
          <p:cNvPr id="152" name="Shape 12"/>
          <p:cNvSpPr/>
          <p:nvPr/>
        </p:nvSpPr>
        <p:spPr>
          <a:xfrm>
            <a:off x="640080" y="3108960"/>
            <a:ext cx="7862760" cy="73044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3" name="Shape 13"/>
          <p:cNvSpPr/>
          <p:nvPr/>
        </p:nvSpPr>
        <p:spPr>
          <a:xfrm>
            <a:off x="640080" y="3108960"/>
            <a:ext cx="53640" cy="73044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4" name="Text 14"/>
          <p:cNvSpPr/>
          <p:nvPr/>
        </p:nvSpPr>
        <p:spPr>
          <a:xfrm>
            <a:off x="914400" y="3108960"/>
            <a:ext cx="547560" cy="730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0d9488"/>
                </a:solidFill>
                <a:latin typeface="Georgia"/>
                <a:ea typeface="Georgia"/>
              </a:rPr>
              <a:t>03</a:t>
            </a:r>
            <a:endParaRPr b="0" lang="en-US" sz="2200" spc="-1" strike="noStrike">
              <a:solidFill>
                <a:srgbClr val="ffffff"/>
              </a:solidFill>
              <a:latin typeface="Arial"/>
            </a:endParaRPr>
          </a:p>
        </p:txBody>
      </p:sp>
      <p:sp>
        <p:nvSpPr>
          <p:cNvPr id="155" name="Text 15"/>
          <p:cNvSpPr/>
          <p:nvPr/>
        </p:nvSpPr>
        <p:spPr>
          <a:xfrm>
            <a:off x="1554480" y="318204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ffffff"/>
                </a:solidFill>
                <a:latin typeface="Georgia"/>
                <a:ea typeface="Georgia"/>
              </a:rPr>
              <a:t>Phonological Similarity</a:t>
            </a:r>
            <a:endParaRPr b="0" lang="en-US" sz="1400" spc="-1" strike="noStrike">
              <a:solidFill>
                <a:srgbClr val="ffffff"/>
              </a:solidFill>
              <a:latin typeface="Arial"/>
            </a:endParaRPr>
          </a:p>
        </p:txBody>
      </p:sp>
      <p:sp>
        <p:nvSpPr>
          <p:cNvPr id="156" name="Text 16"/>
          <p:cNvSpPr/>
          <p:nvPr/>
        </p:nvSpPr>
        <p:spPr>
          <a:xfrm>
            <a:off x="1554480" y="347472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94a3b8"/>
                </a:solidFill>
                <a:latin typeface="Calibri"/>
                <a:ea typeface="Calibri"/>
              </a:rPr>
              <a:t>Levenshtein distance on phonetic transcriptions to test whether phonological cues guide retrieval when semantic clusters deplete.</a:t>
            </a:r>
            <a:endParaRPr b="0" lang="en-US" sz="1100" spc="-1" strike="noStrike">
              <a:solidFill>
                <a:srgbClr val="ffffff"/>
              </a:solidFill>
              <a:latin typeface="Arial"/>
            </a:endParaRPr>
          </a:p>
        </p:txBody>
      </p:sp>
      <p:sp>
        <p:nvSpPr>
          <p:cNvPr id="157" name="Shape 17"/>
          <p:cNvSpPr/>
          <p:nvPr/>
        </p:nvSpPr>
        <p:spPr>
          <a:xfrm>
            <a:off x="640080" y="3977640"/>
            <a:ext cx="7862760" cy="730440"/>
          </a:xfrm>
          <a:prstGeom prst="rect">
            <a:avLst/>
          </a:prstGeom>
          <a:solidFill>
            <a:srgbClr val="1e3355"/>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8" name="Shape 18"/>
          <p:cNvSpPr/>
          <p:nvPr/>
        </p:nvSpPr>
        <p:spPr>
          <a:xfrm>
            <a:off x="640080" y="3977640"/>
            <a:ext cx="53640" cy="73044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9" name="Text 19"/>
          <p:cNvSpPr/>
          <p:nvPr/>
        </p:nvSpPr>
        <p:spPr>
          <a:xfrm>
            <a:off x="914400" y="3977640"/>
            <a:ext cx="547560" cy="730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200" spc="-1" strike="noStrike">
                <a:solidFill>
                  <a:srgbClr val="0d9488"/>
                </a:solidFill>
                <a:latin typeface="Georgia"/>
                <a:ea typeface="Georgia"/>
              </a:rPr>
              <a:t>04</a:t>
            </a:r>
            <a:endParaRPr b="0" lang="en-US" sz="2200" spc="-1" strike="noStrike">
              <a:solidFill>
                <a:srgbClr val="ffffff"/>
              </a:solidFill>
              <a:latin typeface="Arial"/>
            </a:endParaRPr>
          </a:p>
        </p:txBody>
      </p:sp>
      <p:sp>
        <p:nvSpPr>
          <p:cNvPr id="160" name="Text 20"/>
          <p:cNvSpPr/>
          <p:nvPr/>
        </p:nvSpPr>
        <p:spPr>
          <a:xfrm>
            <a:off x="1554480" y="405072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400" spc="-1" strike="noStrike">
                <a:solidFill>
                  <a:srgbClr val="ffffff"/>
                </a:solidFill>
                <a:latin typeface="Georgia"/>
                <a:ea typeface="Georgia"/>
              </a:rPr>
              <a:t>ANOVA &amp; GLM Models</a:t>
            </a:r>
            <a:endParaRPr b="0" lang="en-US" sz="1400" spc="-1" strike="noStrike">
              <a:solidFill>
                <a:srgbClr val="ffffff"/>
              </a:solidFill>
              <a:latin typeface="Arial"/>
            </a:endParaRPr>
          </a:p>
        </p:txBody>
      </p:sp>
      <p:sp>
        <p:nvSpPr>
          <p:cNvPr id="161" name="Text 21"/>
          <p:cNvSpPr/>
          <p:nvPr/>
        </p:nvSpPr>
        <p:spPr>
          <a:xfrm>
            <a:off x="1554480" y="4343400"/>
            <a:ext cx="66740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pc="-1" strike="noStrike">
                <a:solidFill>
                  <a:srgbClr val="94a3b8"/>
                </a:solidFill>
                <a:latin typeface="Calibri"/>
                <a:ea typeface="Calibri"/>
              </a:rPr>
              <a:t>Test clustering differences across semantic domains (animals vs. furniture) and model fluency, domain, and position effects simultaneously.</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162" name="Shape 0"/>
          <p:cNvSpPr/>
          <p:nvPr/>
        </p:nvSpPr>
        <p:spPr>
          <a:xfrm>
            <a:off x="0" y="0"/>
            <a:ext cx="53640" cy="514260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3" name="Text 1"/>
          <p:cNvSpPr/>
          <p:nvPr/>
        </p:nvSpPr>
        <p:spPr>
          <a:xfrm>
            <a:off x="640080" y="274320"/>
            <a:ext cx="7314120" cy="593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pc="-1" strike="noStrike">
                <a:solidFill>
                  <a:srgbClr val="1a2744"/>
                </a:solidFill>
                <a:latin typeface="Georgia"/>
                <a:ea typeface="Georgia"/>
              </a:rPr>
              <a:t>Team Contributions</a:t>
            </a:r>
            <a:endParaRPr b="0" lang="en-US" sz="2800" spc="-1" strike="noStrike">
              <a:solidFill>
                <a:srgbClr val="000000"/>
              </a:solidFill>
              <a:latin typeface="Arial"/>
            </a:endParaRPr>
          </a:p>
        </p:txBody>
      </p:sp>
      <p:sp>
        <p:nvSpPr>
          <p:cNvPr id="164" name="Text 2"/>
          <p:cNvSpPr/>
          <p:nvPr/>
        </p:nvSpPr>
        <p:spPr>
          <a:xfrm>
            <a:off x="640080" y="822960"/>
            <a:ext cx="54853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1300" spc="-1" strike="noStrike">
                <a:solidFill>
                  <a:srgbClr val="0d9488"/>
                </a:solidFill>
                <a:latin typeface="Calibri"/>
                <a:ea typeface="Calibri"/>
              </a:rPr>
              <a:t>The Hawthornes — Who did what</a:t>
            </a:r>
            <a:endParaRPr b="0" lang="en-US" sz="1300" spc="-1" strike="noStrike">
              <a:solidFill>
                <a:srgbClr val="000000"/>
              </a:solidFill>
              <a:latin typeface="Arial"/>
            </a:endParaRPr>
          </a:p>
        </p:txBody>
      </p:sp>
      <p:sp>
        <p:nvSpPr>
          <p:cNvPr id="165" name="Shape 3"/>
          <p:cNvSpPr/>
          <p:nvPr/>
        </p:nvSpPr>
        <p:spPr>
          <a:xfrm>
            <a:off x="640080" y="1280160"/>
            <a:ext cx="7862760" cy="1004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6" name="Shape 4"/>
          <p:cNvSpPr/>
          <p:nvPr/>
        </p:nvSpPr>
        <p:spPr>
          <a:xfrm>
            <a:off x="640080" y="1280160"/>
            <a:ext cx="53640" cy="100476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67" name="Image 0" descr="preencoded.png"/>
          <p:cNvPicPr/>
          <p:nvPr/>
        </p:nvPicPr>
        <p:blipFill>
          <a:blip r:embed="rId1"/>
          <a:stretch/>
        </p:blipFill>
        <p:spPr>
          <a:xfrm>
            <a:off x="914400" y="1554480"/>
            <a:ext cx="410400" cy="410400"/>
          </a:xfrm>
          <a:prstGeom prst="rect">
            <a:avLst/>
          </a:prstGeom>
          <a:ln w="0">
            <a:noFill/>
          </a:ln>
        </p:spPr>
      </p:pic>
      <p:sp>
        <p:nvSpPr>
          <p:cNvPr id="168" name="Text 5"/>
          <p:cNvSpPr/>
          <p:nvPr/>
        </p:nvSpPr>
        <p:spPr>
          <a:xfrm>
            <a:off x="1508760" y="1353240"/>
            <a:ext cx="27421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e293b"/>
                </a:solidFill>
                <a:latin typeface="Georgia"/>
                <a:ea typeface="Georgia"/>
              </a:rPr>
              <a:t>Malay Damani</a:t>
            </a:r>
            <a:endParaRPr b="0" lang="en-US" sz="1500" spc="-1" strike="noStrike">
              <a:solidFill>
                <a:srgbClr val="000000"/>
              </a:solidFill>
              <a:latin typeface="Arial"/>
            </a:endParaRPr>
          </a:p>
        </p:txBody>
      </p:sp>
      <p:sp>
        <p:nvSpPr>
          <p:cNvPr id="169" name="Text 6"/>
          <p:cNvSpPr/>
          <p:nvPr/>
        </p:nvSpPr>
        <p:spPr>
          <a:xfrm>
            <a:off x="1508760" y="1627560"/>
            <a:ext cx="27421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0d9488"/>
                </a:solidFill>
                <a:latin typeface="Calibri"/>
                <a:ea typeface="Calibri"/>
              </a:rPr>
              <a:t>Literature Review &amp; Data Cleaning</a:t>
            </a:r>
            <a:endParaRPr b="0" lang="en-US" sz="1100" spc="-1" strike="noStrike">
              <a:solidFill>
                <a:srgbClr val="000000"/>
              </a:solidFill>
              <a:latin typeface="Arial"/>
            </a:endParaRPr>
          </a:p>
        </p:txBody>
      </p:sp>
      <p:sp>
        <p:nvSpPr>
          <p:cNvPr id="170" name="Text 7"/>
          <p:cNvSpPr/>
          <p:nvPr/>
        </p:nvSpPr>
        <p:spPr>
          <a:xfrm>
            <a:off x="4114800" y="1371600"/>
            <a:ext cx="4205160" cy="821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050" spc="-1" strike="noStrike">
                <a:solidFill>
                  <a:srgbClr val="475569"/>
                </a:solidFill>
                <a:latin typeface="Calibri"/>
                <a:ea typeface="Calibri"/>
              </a:rPr>
              <a:t>Established the theoretical framework. Managed raw JSON dataset, performed data cleaning, extracted demographic survey data for Hindi Fluency Scores. Drafted Introduction and Methodology.</a:t>
            </a:r>
            <a:endParaRPr b="0" lang="en-US" sz="1050" spc="-1" strike="noStrike">
              <a:solidFill>
                <a:srgbClr val="000000"/>
              </a:solidFill>
              <a:latin typeface="Arial"/>
            </a:endParaRPr>
          </a:p>
        </p:txBody>
      </p:sp>
      <p:sp>
        <p:nvSpPr>
          <p:cNvPr id="171" name="Shape 8"/>
          <p:cNvSpPr/>
          <p:nvPr/>
        </p:nvSpPr>
        <p:spPr>
          <a:xfrm>
            <a:off x="640080" y="2377440"/>
            <a:ext cx="7862760" cy="1004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2" name="Shape 9"/>
          <p:cNvSpPr/>
          <p:nvPr/>
        </p:nvSpPr>
        <p:spPr>
          <a:xfrm>
            <a:off x="640080" y="2377440"/>
            <a:ext cx="53640" cy="100476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73" name="Image 1" descr="preencoded.png"/>
          <p:cNvPicPr/>
          <p:nvPr/>
        </p:nvPicPr>
        <p:blipFill>
          <a:blip r:embed="rId2"/>
          <a:stretch/>
        </p:blipFill>
        <p:spPr>
          <a:xfrm>
            <a:off x="914400" y="2651760"/>
            <a:ext cx="410400" cy="410400"/>
          </a:xfrm>
          <a:prstGeom prst="rect">
            <a:avLst/>
          </a:prstGeom>
          <a:ln w="0">
            <a:noFill/>
          </a:ln>
        </p:spPr>
      </p:pic>
      <p:sp>
        <p:nvSpPr>
          <p:cNvPr id="174" name="Text 10"/>
          <p:cNvSpPr/>
          <p:nvPr/>
        </p:nvSpPr>
        <p:spPr>
          <a:xfrm>
            <a:off x="1508760" y="2450520"/>
            <a:ext cx="27421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e293b"/>
                </a:solidFill>
                <a:latin typeface="Georgia"/>
                <a:ea typeface="Georgia"/>
              </a:rPr>
              <a:t>Nikhil Jain</a:t>
            </a:r>
            <a:endParaRPr b="0" lang="en-US" sz="1500" spc="-1" strike="noStrike">
              <a:solidFill>
                <a:srgbClr val="000000"/>
              </a:solidFill>
              <a:latin typeface="Arial"/>
            </a:endParaRPr>
          </a:p>
        </p:txBody>
      </p:sp>
      <p:sp>
        <p:nvSpPr>
          <p:cNvPr id="175" name="Text 11"/>
          <p:cNvSpPr/>
          <p:nvPr/>
        </p:nvSpPr>
        <p:spPr>
          <a:xfrm>
            <a:off x="1508760" y="2724840"/>
            <a:ext cx="27421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0d9488"/>
                </a:solidFill>
                <a:latin typeface="Calibri"/>
                <a:ea typeface="Calibri"/>
              </a:rPr>
              <a:t>Data Pipeline &amp; Descriptives</a:t>
            </a:r>
            <a:endParaRPr b="0" lang="en-US" sz="1100" spc="-1" strike="noStrike">
              <a:solidFill>
                <a:srgbClr val="000000"/>
              </a:solidFill>
              <a:latin typeface="Arial"/>
            </a:endParaRPr>
          </a:p>
        </p:txBody>
      </p:sp>
      <p:sp>
        <p:nvSpPr>
          <p:cNvPr id="176" name="Text 12"/>
          <p:cNvSpPr/>
          <p:nvPr/>
        </p:nvSpPr>
        <p:spPr>
          <a:xfrm>
            <a:off x="4114800" y="2468880"/>
            <a:ext cx="4205160" cy="821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050" spc="-1" strike="noStrike">
                <a:solidFill>
                  <a:srgbClr val="475569"/>
                </a:solidFill>
                <a:latin typeface="Calibri"/>
                <a:ea typeface="Calibri"/>
              </a:rPr>
              <a:t>Built the primary Python pipeline to parse VFT data. Computed word counts, parsed IRTs, extracted SpAM coordinates. Computed descriptive statistics and formalized Research Questions.</a:t>
            </a:r>
            <a:endParaRPr b="0" lang="en-US" sz="1050" spc="-1" strike="noStrike">
              <a:solidFill>
                <a:srgbClr val="000000"/>
              </a:solidFill>
              <a:latin typeface="Arial"/>
            </a:endParaRPr>
          </a:p>
        </p:txBody>
      </p:sp>
      <p:sp>
        <p:nvSpPr>
          <p:cNvPr id="177" name="Shape 13"/>
          <p:cNvSpPr/>
          <p:nvPr/>
        </p:nvSpPr>
        <p:spPr>
          <a:xfrm>
            <a:off x="640080" y="3474720"/>
            <a:ext cx="7862760" cy="1004760"/>
          </a:xfrm>
          <a:prstGeom prst="rect">
            <a:avLst/>
          </a:prstGeom>
          <a:solidFill>
            <a:srgbClr val="ffffff"/>
          </a:solidFill>
          <a:ln w="0">
            <a:noFill/>
          </a:ln>
          <a:effectLst>
            <a:outerShdw algn="bl" blurRad="76320" dir="8100000" dist="25455" kx="0" ky="0" rotWithShape="0" sx="100000" sy="100000">
              <a:srgbClr val="000000">
                <a:alpha val="12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8" name="Shape 14"/>
          <p:cNvSpPr/>
          <p:nvPr/>
        </p:nvSpPr>
        <p:spPr>
          <a:xfrm>
            <a:off x="640080" y="3474720"/>
            <a:ext cx="53640" cy="1004760"/>
          </a:xfrm>
          <a:prstGeom prst="rect">
            <a:avLst/>
          </a:prstGeom>
          <a:solidFill>
            <a:srgbClr val="0d9488"/>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79" name="Image 2" descr="preencoded.png"/>
          <p:cNvPicPr/>
          <p:nvPr/>
        </p:nvPicPr>
        <p:blipFill>
          <a:blip r:embed="rId3"/>
          <a:stretch/>
        </p:blipFill>
        <p:spPr>
          <a:xfrm>
            <a:off x="914400" y="3749040"/>
            <a:ext cx="410400" cy="410400"/>
          </a:xfrm>
          <a:prstGeom prst="rect">
            <a:avLst/>
          </a:prstGeom>
          <a:ln w="0">
            <a:noFill/>
          </a:ln>
        </p:spPr>
      </p:pic>
      <p:sp>
        <p:nvSpPr>
          <p:cNvPr id="180" name="Text 15"/>
          <p:cNvSpPr/>
          <p:nvPr/>
        </p:nvSpPr>
        <p:spPr>
          <a:xfrm>
            <a:off x="1508760" y="3547800"/>
            <a:ext cx="274212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pc="-1" strike="noStrike">
                <a:solidFill>
                  <a:srgbClr val="1e293b"/>
                </a:solidFill>
                <a:latin typeface="Georgia"/>
                <a:ea typeface="Georgia"/>
              </a:rPr>
              <a:t>Saurabh Rawat</a:t>
            </a:r>
            <a:endParaRPr b="0" lang="en-US" sz="1500" spc="-1" strike="noStrike">
              <a:solidFill>
                <a:srgbClr val="000000"/>
              </a:solidFill>
              <a:latin typeface="Arial"/>
            </a:endParaRPr>
          </a:p>
        </p:txBody>
      </p:sp>
      <p:sp>
        <p:nvSpPr>
          <p:cNvPr id="181" name="Text 16"/>
          <p:cNvSpPr/>
          <p:nvPr/>
        </p:nvSpPr>
        <p:spPr>
          <a:xfrm>
            <a:off x="1508760" y="3822120"/>
            <a:ext cx="274212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pc="-1" strike="noStrike">
                <a:solidFill>
                  <a:srgbClr val="0d9488"/>
                </a:solidFill>
                <a:latin typeface="Calibri"/>
                <a:ea typeface="Calibri"/>
              </a:rPr>
              <a:t>Inferential Analysis &amp; Visualization</a:t>
            </a:r>
            <a:endParaRPr b="0" lang="en-US" sz="1100" spc="-1" strike="noStrike">
              <a:solidFill>
                <a:srgbClr val="000000"/>
              </a:solidFill>
              <a:latin typeface="Arial"/>
            </a:endParaRPr>
          </a:p>
        </p:txBody>
      </p:sp>
      <p:sp>
        <p:nvSpPr>
          <p:cNvPr id="182" name="Text 17"/>
          <p:cNvSpPr/>
          <p:nvPr/>
        </p:nvSpPr>
        <p:spPr>
          <a:xfrm>
            <a:off x="4114800" y="3566160"/>
            <a:ext cx="4205160" cy="821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20000"/>
              </a:lnSpc>
              <a:tabLst>
                <a:tab algn="l" pos="0"/>
              </a:tabLst>
            </a:pPr>
            <a:r>
              <a:rPr b="0" lang="en-US" sz="1050" spc="-1" strike="noStrike">
                <a:solidFill>
                  <a:srgbClr val="475569"/>
                </a:solidFill>
                <a:latin typeface="Calibri"/>
                <a:ea typeface="Calibri"/>
              </a:rPr>
              <a:t>Executed all inferential statistics (Pearson, Welch T-test, Mann-Whitney U). Generated all data visualizations using seaborn/matplotlib. Drafted Results, Conclusions, and Future Directions.</a:t>
            </a:r>
            <a:endParaRPr b="0" lang="en-US" sz="1050" spc="-1" strike="noStrike">
              <a:solidFill>
                <a:srgbClr val="000000"/>
              </a:solidFill>
              <a:latin typeface="Arial"/>
            </a:endParaRPr>
          </a:p>
        </p:txBody>
      </p:sp>
      <p:sp>
        <p:nvSpPr>
          <p:cNvPr id="183" name="Text 18"/>
          <p:cNvSpPr/>
          <p:nvPr/>
        </p:nvSpPr>
        <p:spPr>
          <a:xfrm>
            <a:off x="640080" y="4434840"/>
            <a:ext cx="7862760" cy="2732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000" spc="-1" strike="noStrike">
                <a:solidFill>
                  <a:srgbClr val="94a3b8"/>
                </a:solidFill>
                <a:latin typeface="Calibri"/>
                <a:ea typeface="Calibri"/>
              </a:rPr>
              <a:t>Code: github.com/nj301365/Brsm</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1017</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2026-04-02T10:33:02Z</dcterms:created>
  <dc:creator>The Hawthornes</dc:creator>
  <dc:description/>
  <dc:language>en-US</dc:language>
  <cp:lastModifiedBy/>
  <dcterms:modified xsi:type="dcterms:W3CDTF">2026-04-11T12:38:38Z</dcterms:modified>
  <cp:revision>6</cp:revision>
  <dc:subject>PptxGenJS Presentation</dc:subject>
  <dc:title>Verbal Fluency and Spatial Arrangement Methods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